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f70035f-3289-7dad-b535-b48906f57aa5}">
          <p14:sldIdLst>
            <p14:sldId id="256"/>
            <p14:sldId id="257"/>
            <p14:sldId id="258"/>
          </p14:sldIdLst>
        </p14:section>
        <p14:section name="Your scenario and role" id="{9457b487-b895-1fb7-d205-9b9149fecb06}">
          <p14:sldIdLst>
            <p14:sldId id="259"/>
            <p14:sldId id="260"/>
          </p14:sldIdLst>
        </p14:section>
        <p14:section name="The labs" id="{ebff8525-52a9-3584-b572-de5e62434b3f}">
          <p14:sldIdLst>
            <p14:sldId id="261"/>
            <p14:sldId id="262"/>
            <p14:sldId id="263"/>
          </p14:sldIdLst>
        </p14:section>
        <p14:section name="Close" id="{a48e7703-e5a3-6492-8346-6f4fdd071118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in three minutes. Giant monsters in Puget Sound. Somebody vibe-coded a command centre. Looks fantastic, does nothing. Your job: one slice, toward production, the way we would for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monsters: nobody has domain experience, so nobody skips discovery. The method transfers, the kaiju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hosted demo live here if the network allows. Click a kaiju. Click Scramble Jets. Point at the Last Stand inset: that coin flip is Lab 2's Responsible AI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minutes. Pick by interest, not by difficulty. Each pack is four pages: scenario, your card, run sheet. Read page one and your card,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realistic on purpose. Easy to follow. The commander decides, the specialists act. The coach will quiz you on what the specialists said.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Checkpoints: 5 min everyone is being interviewed; 12 min synthesis running; 25 min PRD exists. Behind? Pair with a neighbour who is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Coffee goes while the planner runs. Over the break: which security standards has a client of yours actually named?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 plan checkpoint ask who amended rather than approved. Celebrate the amendments: that is the human gate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questions: which finding would your team have missed? The review found zero defects and still refused acceptance; would you have shipped? What broke today, and would it break on a client machine?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Kaiju Lab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Kaiju Lab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CAPGEMINI FDE  ·  HVE TRAINING</a:t>
            </a:r>
            <a:endParaRPr lang="en-US" sz="1200" dirty="0"/>
          </a:p>
        </p:txBody>
      </p:sp>
      <p:sp>
        <p:nvSpPr>
          <p:cNvPr id="3" name="deck title"/>
          <p:cNvSpPr txBox="1"/>
          <p:nvPr/>
        </p:nvSpPr>
        <p:spPr>
          <a:xfrm>
            <a:off x="640080" y="1554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The Kaiju Lab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26060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One hour. Three labs. One monster. Take a slice of a vibe-coded command centre toward production with the HVE method and hve-core on Claude Code.</a:t>
            </a:r>
            <a:endParaRPr lang="en-US" sz="1600" dirty="0"/>
          </a:p>
        </p:txBody>
      </p:sp>
      <p:pic>
        <p:nvPicPr>
          <p:cNvPr id="5" name="masc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822960"/>
            <a:ext cx="3017520" cy="3017520"/>
          </a:xfrm>
          <a:prstGeom prst="rect">
            <a:avLst/>
          </a:prstGeom>
        </p:spPr>
      </p:pic>
      <p:sp>
        <p:nvSpPr>
          <p:cNvPr id="6" name="repo"/>
          <p:cNvSpPr txBox="1"/>
          <p:nvPr/>
        </p:nvSpPr>
        <p:spPr>
          <a:xfrm>
            <a:off x="64008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Project Titan Watch  ·  github.com/joelcapgemini/titan-watch-lab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are doing</a:t>
            </a:r>
            <a:endParaRPr lang="en-US" sz="3000" dirty="0"/>
          </a:p>
        </p:txBody>
      </p:sp>
      <p:sp>
        <p:nvSpPr>
          <p:cNvPr id="3" name="stat hour"/>
          <p:cNvSpPr txBox="1"/>
          <p:nvPr/>
        </p:nvSpPr>
        <p:spPr>
          <a:xfrm>
            <a:off x="548640" y="1143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</a:t>
            </a:r>
            <a:endParaRPr lang="en-US" sz="6000" dirty="0"/>
          </a:p>
        </p:txBody>
      </p:sp>
      <p:sp>
        <p:nvSpPr>
          <p:cNvPr id="4" name="stat label hour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hour</a:t>
            </a:r>
            <a:endParaRPr lang="en-US" sz="1400" dirty="0"/>
          </a:p>
        </p:txBody>
      </p:sp>
      <p:sp>
        <p:nvSpPr>
          <p:cNvPr id="5" name="stat labs"/>
          <p:cNvSpPr txBox="1"/>
          <p:nvPr/>
        </p:nvSpPr>
        <p:spPr>
          <a:xfrm>
            <a:off x="2560320" y="1143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3</a:t>
            </a:r>
            <a:endParaRPr lang="en-US" sz="6000" dirty="0"/>
          </a:p>
        </p:txBody>
      </p:sp>
      <p:sp>
        <p:nvSpPr>
          <p:cNvPr id="6" name="stat label labs"/>
          <p:cNvSpPr txBox="1"/>
          <p:nvPr/>
        </p:nvSpPr>
        <p:spPr>
          <a:xfrm>
            <a:off x="25603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labs</a:t>
            </a:r>
            <a:endParaRPr lang="en-US" sz="1400" dirty="0"/>
          </a:p>
        </p:txBody>
      </p:sp>
      <p:sp>
        <p:nvSpPr>
          <p:cNvPr id="7" name="stat role"/>
          <p:cNvSpPr txBox="1"/>
          <p:nvPr/>
        </p:nvSpPr>
        <p:spPr>
          <a:xfrm>
            <a:off x="4572000" y="1143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</a:t>
            </a:r>
            <a:endParaRPr lang="en-US" sz="6000" dirty="0"/>
          </a:p>
        </p:txBody>
      </p:sp>
      <p:sp>
        <p:nvSpPr>
          <p:cNvPr id="8" name="stat label role"/>
          <p:cNvSpPr txBox="1"/>
          <p:nvPr/>
        </p:nvSpPr>
        <p:spPr>
          <a:xfrm>
            <a:off x="45720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role</a:t>
            </a:r>
            <a:endParaRPr lang="en-US" sz="1400" dirty="0"/>
          </a:p>
        </p:txBody>
      </p:sp>
      <p:sp>
        <p:nvSpPr>
          <p:cNvPr id="9" name="stat scenarios"/>
          <p:cNvSpPr txBox="1"/>
          <p:nvPr/>
        </p:nvSpPr>
        <p:spPr>
          <a:xfrm>
            <a:off x="6583680" y="1143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4</a:t>
            </a:r>
            <a:endParaRPr lang="en-US" sz="6000" dirty="0"/>
          </a:p>
        </p:txBody>
      </p:sp>
      <p:sp>
        <p:nvSpPr>
          <p:cNvPr id="10" name="stat label scenarios"/>
          <p:cNvSpPr txBox="1"/>
          <p:nvPr/>
        </p:nvSpPr>
        <p:spPr>
          <a:xfrm>
            <a:off x="65836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scenarios</a:t>
            </a:r>
            <a:endParaRPr lang="en-US" sz="1400" dirty="0"/>
          </a:p>
        </p:txBody>
      </p:sp>
      <p:sp>
        <p:nvSpPr>
          <p:cNvPr id="11" name="row0 circle"/>
          <p:cNvSpPr/>
          <p:nvPr/>
        </p:nvSpPr>
        <p:spPr>
          <a:xfrm>
            <a:off x="548640" y="2606040"/>
            <a:ext cx="475488" cy="47548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pic>
        <p:nvPicPr>
          <p:cNvPr id="12" name="row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2729667"/>
            <a:ext cx="228234" cy="228234"/>
          </a:xfrm>
          <a:prstGeom prst="rect">
            <a:avLst/>
          </a:prstGeom>
        </p:spPr>
      </p:pic>
      <p:sp>
        <p:nvSpPr>
          <p:cNvPr id="13" name="row head 0"/>
          <p:cNvSpPr txBox="1"/>
          <p:nvPr/>
        </p:nvSpPr>
        <p:spPr>
          <a:xfrm>
            <a:off x="1188720" y="2606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demo that looks done</a:t>
            </a:r>
            <a:endParaRPr lang="en-US" sz="1500" dirty="0"/>
          </a:p>
        </p:txBody>
      </p:sp>
      <p:sp>
        <p:nvSpPr>
          <p:cNvPr id="14" name="row body 0"/>
          <p:cNvSpPr txBox="1"/>
          <p:nvPr/>
        </p:nvSpPr>
        <p:spPr>
          <a:xfrm>
            <a:off x="1188720" y="28620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The Titan Watch command centre renders a map, a roster, a dispatch panel. None of it does anything.</a:t>
            </a:r>
            <a:endParaRPr lang="en-US" sz="1200" dirty="0"/>
          </a:p>
        </p:txBody>
      </p:sp>
      <p:sp>
        <p:nvSpPr>
          <p:cNvPr id="15" name="row1 circle"/>
          <p:cNvSpPr/>
          <p:nvPr/>
        </p:nvSpPr>
        <p:spPr>
          <a:xfrm>
            <a:off x="548640" y="3291840"/>
            <a:ext cx="475488" cy="47548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pic>
        <p:nvPicPr>
          <p:cNvPr id="16" name="row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3415467"/>
            <a:ext cx="228234" cy="228234"/>
          </a:xfrm>
          <a:prstGeom prst="rect">
            <a:avLst/>
          </a:prstGeom>
        </p:spPr>
      </p:pic>
      <p:sp>
        <p:nvSpPr>
          <p:cNvPr id="17" name="row head 1"/>
          <p:cNvSpPr txBox="1"/>
          <p:nvPr/>
        </p:nvSpPr>
        <p:spPr>
          <a:xfrm>
            <a:off x="1188720" y="3291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Discovery before code</a:t>
            </a:r>
            <a:endParaRPr lang="en-US" sz="1500" dirty="0"/>
          </a:p>
        </p:txBody>
      </p:sp>
      <p:sp>
        <p:nvSpPr>
          <p:cNvPr id="18" name="row body 1"/>
          <p:cNvSpPr txBox="1"/>
          <p:nvPr/>
        </p:nvSpPr>
        <p:spPr>
          <a:xfrm>
            <a:off x="1188720" y="35478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An AI coach interviews you as the commander, then writes the requirements and the architecture.</a:t>
            </a:r>
            <a:endParaRPr lang="en-US" sz="1200" dirty="0"/>
          </a:p>
        </p:txBody>
      </p:sp>
      <p:sp>
        <p:nvSpPr>
          <p:cNvPr id="19" name="row2 circle"/>
          <p:cNvSpPr/>
          <p:nvPr/>
        </p:nvSpPr>
        <p:spPr>
          <a:xfrm>
            <a:off x="548640" y="3977640"/>
            <a:ext cx="475488" cy="47548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pic>
        <p:nvPicPr>
          <p:cNvPr id="20" name="row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4101267"/>
            <a:ext cx="228234" cy="228234"/>
          </a:xfrm>
          <a:prstGeom prst="rect">
            <a:avLst/>
          </a:prstGeom>
        </p:spPr>
      </p:pic>
      <p:sp>
        <p:nvSpPr>
          <p:cNvPr id="21" name="row head 2"/>
          <p:cNvSpPr txBox="1"/>
          <p:nvPr/>
        </p:nvSpPr>
        <p:spPr>
          <a:xfrm>
            <a:off x="1188720" y="3977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Then security, ethics, a plan</a:t>
            </a:r>
            <a:endParaRPr lang="en-US" sz="1500" dirty="0"/>
          </a:p>
        </p:txBody>
      </p:sp>
      <p:sp>
        <p:nvSpPr>
          <p:cNvPr id="22" name="row body 2"/>
          <p:cNvSpPr txBox="1"/>
          <p:nvPr/>
        </p:nvSpPr>
        <p:spPr>
          <a:xfrm>
            <a:off x="1188720" y="42336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Three more agents threat-model it, assess the one AI decision in the app, and plan one feature.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Titan Watch command centre</a:t>
            </a:r>
            <a:endParaRPr lang="en-US" sz="3000" dirty="0"/>
          </a:p>
        </p:txBody>
      </p:sp>
      <p:sp>
        <p:nvSpPr>
          <p:cNvPr id="3" name="app frame"/>
          <p:cNvSpPr/>
          <p:nvPr/>
        </p:nvSpPr>
        <p:spPr>
          <a:xfrm>
            <a:off x="548640" y="118872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4" name="roster panel"/>
          <p:cNvSpPr/>
          <p:nvPr/>
        </p:nvSpPr>
        <p:spPr>
          <a:xfrm>
            <a:off x="685800" y="1325880"/>
            <a:ext cx="1143000" cy="3017520"/>
          </a:xfrm>
          <a:prstGeom prst="rect">
            <a:avLst/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5" name="roster text"/>
          <p:cNvSpPr txBox="1"/>
          <p:nvPr/>
        </p:nvSpPr>
        <p:spPr>
          <a:xfrm>
            <a:off x="685800" y="1325880"/>
            <a:ext cx="1143000" cy="3017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LEVIATHAN ROSTER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Gorathos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Vespyra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Terrakon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Nyxmora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Skarnyx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Molvorak</a:t>
            </a:r>
            <a:endParaRPr lang="en-US" sz="800" dirty="0"/>
          </a:p>
        </p:txBody>
      </p:sp>
      <p:sp>
        <p:nvSpPr>
          <p:cNvPr id="6" name="map panel"/>
          <p:cNvSpPr/>
          <p:nvPr/>
        </p:nvSpPr>
        <p:spPr>
          <a:xfrm>
            <a:off x="1920240" y="1325880"/>
            <a:ext cx="2514600" cy="2103120"/>
          </a:xfrm>
          <a:prstGeom prst="rect">
            <a:avLst/>
          </a:prstGeom>
          <a:solidFill>
            <a:srgbClr val="243055"/>
          </a:solidFill>
          <a:ln w="12700">
            <a:solidFill>
              <a:srgbClr val="243055"/>
            </a:solidFill>
            <a:prstDash val="solid"/>
          </a:ln>
        </p:spPr>
      </p:sp>
      <p:sp>
        <p:nvSpPr>
          <p:cNvPr id="7" name="map text"/>
          <p:cNvSpPr txBox="1"/>
          <p:nvPr/>
        </p:nvSpPr>
        <p:spPr>
          <a:xfrm>
            <a:off x="1920240" y="1325880"/>
            <a:ext cx="25146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COMMAND MAP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Puget Sound, six tracks</a:t>
            </a:r>
            <a:endParaRPr lang="en-US" sz="800" dirty="0"/>
          </a:p>
        </p:txBody>
      </p:sp>
      <p:sp>
        <p:nvSpPr>
          <p:cNvPr id="8" name="kaiju marker 0"/>
          <p:cNvSpPr/>
          <p:nvPr/>
        </p:nvSpPr>
        <p:spPr>
          <a:xfrm>
            <a:off x="2651760" y="2103120"/>
            <a:ext cx="128016" cy="12801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" name="kaiju marker 1"/>
          <p:cNvSpPr/>
          <p:nvPr/>
        </p:nvSpPr>
        <p:spPr>
          <a:xfrm>
            <a:off x="3474720" y="2651760"/>
            <a:ext cx="128016" cy="12801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" name="kaiju marker 2"/>
          <p:cNvSpPr/>
          <p:nvPr/>
        </p:nvSpPr>
        <p:spPr>
          <a:xfrm>
            <a:off x="2377440" y="2926080"/>
            <a:ext cx="128016" cy="12801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1" name="kaiju marker 3"/>
          <p:cNvSpPr/>
          <p:nvPr/>
        </p:nvSpPr>
        <p:spPr>
          <a:xfrm>
            <a:off x="3840480" y="2011680"/>
            <a:ext cx="128016" cy="12801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2" name="last stand inset"/>
          <p:cNvSpPr/>
          <p:nvPr/>
        </p:nvSpPr>
        <p:spPr>
          <a:xfrm>
            <a:off x="2011680" y="1828800"/>
            <a:ext cx="914400" cy="548640"/>
          </a:xfrm>
          <a:prstGeom prst="rect">
            <a:avLst/>
          </a:prstGeom>
          <a:solidFill>
            <a:srgbClr val="1B1F3B"/>
          </a:solidFill>
          <a:ln w="9525">
            <a:solidFill>
              <a:srgbClr val="C58A00"/>
            </a:solidFill>
            <a:prstDash val="solid"/>
          </a:ln>
        </p:spPr>
      </p:sp>
      <p:sp>
        <p:nvSpPr>
          <p:cNvPr id="13" name="last stand text"/>
          <p:cNvSpPr txBox="1"/>
          <p:nvPr/>
        </p:nvSpPr>
        <p:spPr>
          <a:xfrm>
            <a:off x="201168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1"/>
                </a:solidFill>
              </a:rPr>
              <a:t>LAST STAND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chemeClr val="accent1"/>
                </a:solidFill>
              </a:rPr>
              <a:t>coin flip</a:t>
            </a:r>
            <a:endParaRPr lang="en-US" sz="700" dirty="0"/>
          </a:p>
        </p:txBody>
      </p:sp>
      <p:sp>
        <p:nvSpPr>
          <p:cNvPr id="14" name="dispatch panel"/>
          <p:cNvSpPr/>
          <p:nvPr/>
        </p:nvSpPr>
        <p:spPr>
          <a:xfrm>
            <a:off x="1920240" y="3520440"/>
            <a:ext cx="2514600" cy="822960"/>
          </a:xfrm>
          <a:prstGeom prst="rect">
            <a:avLst/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15" name="dispatch text"/>
          <p:cNvSpPr txBox="1"/>
          <p:nvPr/>
        </p:nvSpPr>
        <p:spPr>
          <a:xfrm>
            <a:off x="1920240" y="3520440"/>
            <a:ext cx="251460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DISPATCH  ·  Scramble Jets  ·  Deploy Mechs  ·  Raise Barrier  ·  Evac Sector  ·  Citywide Alert</a:t>
            </a:r>
            <a:endParaRPr lang="en-US" sz="750" dirty="0"/>
          </a:p>
        </p:txBody>
      </p:sp>
      <p:sp>
        <p:nvSpPr>
          <p:cNvPr id="16" name="feed panel"/>
          <p:cNvSpPr/>
          <p:nvPr/>
        </p:nvSpPr>
        <p:spPr>
          <a:xfrm>
            <a:off x="4526280" y="1325880"/>
            <a:ext cx="1005840" cy="3017520"/>
          </a:xfrm>
          <a:prstGeom prst="rect">
            <a:avLst/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17" name="feed text"/>
          <p:cNvSpPr txBox="1"/>
          <p:nvPr/>
        </p:nvSpPr>
        <p:spPr>
          <a:xfrm>
            <a:off x="4526280" y="1325880"/>
            <a:ext cx="1005840" cy="3017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SIGNAL FEED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12:04 sonar ping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12:04 sensor 7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12:05 report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12:05 public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12:06 ping</a:t>
            </a:r>
            <a:endParaRPr lang="en-US" sz="750" dirty="0"/>
          </a:p>
        </p:txBody>
      </p:sp>
      <p:sp>
        <p:nvSpPr>
          <p:cNvPr id="18" name="app claim"/>
          <p:cNvSpPr txBox="1"/>
          <p:nvPr/>
        </p:nvSpPr>
        <p:spPr>
          <a:xfrm>
            <a:off x="59436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Looks done. Does nothing.</a:t>
            </a:r>
            <a:endParaRPr lang="en-US" sz="1800" dirty="0"/>
          </a:p>
        </p:txBody>
      </p:sp>
      <p:sp>
        <p:nvSpPr>
          <p:cNvPr id="19" name="app points"/>
          <p:cNvSpPr txBox="1"/>
          <p:nvPr/>
        </p:nvSpPr>
        <p:spPr>
          <a:xfrm>
            <a:off x="5943600" y="17373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Jets you scramble do not fly anywhere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Mechs are a counter with no behaviour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Click a kaiju and the map zooms instead of targeting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Last Stand picks a city to save with a coin flip</a:t>
            </a:r>
            <a:endParaRPr lang="en-US" sz="1200" dirty="0"/>
          </a:p>
        </p:txBody>
      </p:sp>
      <p:sp>
        <p:nvSpPr>
          <p:cNvPr id="20" name="app source"/>
          <p:cNvSpPr txBox="1"/>
          <p:nvPr/>
        </p:nvSpPr>
        <p:spPr>
          <a:xfrm>
            <a:off x="594360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Vite and React, no backend, mocked feeds. MIT licensed.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amiedd.github.io/Apex-Dynamics-Response-Systems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Pick one scenario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548640" y="11430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pic>
        <p:nvPicPr>
          <p:cNvPr id="4" name="monster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52728"/>
            <a:ext cx="621792" cy="621792"/>
          </a:xfrm>
          <a:prstGeom prst="rect">
            <a:avLst/>
          </a:prstGeom>
        </p:spPr>
      </p:pic>
      <p:sp>
        <p:nvSpPr>
          <p:cNvPr id="5" name="scen name 1"/>
          <p:cNvSpPr txBox="1"/>
          <p:nvPr/>
        </p:nvSpPr>
        <p:spPr>
          <a:xfrm>
            <a:off x="1371600" y="1307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Sixty-eight thousand at Lumen Field</a:t>
            </a:r>
            <a:endParaRPr lang="en-US" sz="1400" dirty="0"/>
          </a:p>
        </p:txBody>
      </p:sp>
      <p:sp>
        <p:nvSpPr>
          <p:cNvPr id="6" name="scen meta 1"/>
          <p:cNvSpPr txBox="1"/>
          <p:nvPr/>
        </p:nvSpPr>
        <p:spPr>
          <a:xfrm>
            <a:off x="1371600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Gorathos  ·  11 min to the seawall</a:t>
            </a:r>
            <a:endParaRPr lang="en-US" sz="1050" dirty="0"/>
          </a:p>
        </p:txBody>
      </p:sp>
      <p:sp>
        <p:nvSpPr>
          <p:cNvPr id="7" name="scen choice 1"/>
          <p:cNvSpPr txBox="1"/>
          <p:nvPr/>
        </p:nvSpPr>
        <p:spPr>
          <a:xfrm>
            <a:off x="731520" y="19476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Empty a sold-out stadium into streets that face the kaiju, or hold 68,000 people in a building never built to take a hit.</a:t>
            </a:r>
            <a:endParaRPr lang="en-US" sz="1100" dirty="0"/>
          </a:p>
        </p:txBody>
      </p:sp>
      <p:sp>
        <p:nvSpPr>
          <p:cNvPr id="8" name="card 2"/>
          <p:cNvSpPr/>
          <p:nvPr/>
        </p:nvSpPr>
        <p:spPr>
          <a:xfrm>
            <a:off x="4663440" y="11430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pic>
        <p:nvPicPr>
          <p:cNvPr id="9" name="monster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52728"/>
            <a:ext cx="621792" cy="621792"/>
          </a:xfrm>
          <a:prstGeom prst="rect">
            <a:avLst/>
          </a:prstGeom>
        </p:spPr>
      </p:pic>
      <p:sp>
        <p:nvSpPr>
          <p:cNvPr id="10" name="scen name 2"/>
          <p:cNvSpPr txBox="1"/>
          <p:nvPr/>
        </p:nvSpPr>
        <p:spPr>
          <a:xfrm>
            <a:off x="5486400" y="1307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bridge is floating</a:t>
            </a:r>
            <a:endParaRPr lang="en-US" sz="1400" dirty="0"/>
          </a:p>
        </p:txBody>
      </p:sp>
      <p:sp>
        <p:nvSpPr>
          <p:cNvPr id="11" name="scen meta 2"/>
          <p:cNvSpPr txBox="1"/>
          <p:nvPr/>
        </p:nvSpPr>
        <p:spPr>
          <a:xfrm>
            <a:off x="5486400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Terrakon  ·  26 min to the anchor line</a:t>
            </a:r>
            <a:endParaRPr lang="en-US" sz="1050" dirty="0"/>
          </a:p>
        </p:txBody>
      </p:sp>
      <p:sp>
        <p:nvSpPr>
          <p:cNvPr id="12" name="scen choice 2"/>
          <p:cNvSpPr txBox="1"/>
          <p:nvPr/>
        </p:nvSpPr>
        <p:spPr>
          <a:xfrm>
            <a:off x="4846320" y="19476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Clear the I-90 span and strand Mercer Island, or keep it open and gamble 4,000 vehicles on a cable.</a:t>
            </a:r>
            <a:endParaRPr lang="en-US" sz="1100" dirty="0"/>
          </a:p>
        </p:txBody>
      </p:sp>
      <p:sp>
        <p:nvSpPr>
          <p:cNvPr id="13" name="card 3"/>
          <p:cNvSpPr/>
          <p:nvPr/>
        </p:nvSpPr>
        <p:spPr>
          <a:xfrm>
            <a:off x="548640" y="292608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pic>
        <p:nvPicPr>
          <p:cNvPr id="14" name="monster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35808"/>
            <a:ext cx="621792" cy="621792"/>
          </a:xfrm>
          <a:prstGeom prst="rect">
            <a:avLst/>
          </a:prstGeom>
        </p:spPr>
      </p:pic>
      <p:sp>
        <p:nvSpPr>
          <p:cNvPr id="15" name="scen name 3"/>
          <p:cNvSpPr txBox="1"/>
          <p:nvPr/>
        </p:nvSpPr>
        <p:spPr>
          <a:xfrm>
            <a:off x="1371600" y="3090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Forty aircraft on approach</a:t>
            </a:r>
            <a:endParaRPr lang="en-US" sz="1400" dirty="0"/>
          </a:p>
        </p:txBody>
      </p:sp>
      <p:sp>
        <p:nvSpPr>
          <p:cNvPr id="16" name="scen meta 3"/>
          <p:cNvSpPr txBox="1"/>
          <p:nvPr/>
        </p:nvSpPr>
        <p:spPr>
          <a:xfrm>
            <a:off x="137160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Vespyra  ·  19 min to the outer marker</a:t>
            </a:r>
            <a:endParaRPr lang="en-US" sz="1050" dirty="0"/>
          </a:p>
        </p:txBody>
      </p:sp>
      <p:sp>
        <p:nvSpPr>
          <p:cNvPr id="17" name="scen choice 3"/>
          <p:cNvSpPr txBox="1"/>
          <p:nvPr/>
        </p:nvSpPr>
        <p:spPr>
          <a:xfrm>
            <a:off x="731520" y="37307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Land everything onto runways in its path, or divert forty aircraft with fuel some do not have.</a:t>
            </a:r>
            <a:endParaRPr lang="en-US" sz="1100" dirty="0"/>
          </a:p>
        </p:txBody>
      </p:sp>
      <p:sp>
        <p:nvSpPr>
          <p:cNvPr id="18" name="card 4"/>
          <p:cNvSpPr/>
          <p:nvPr/>
        </p:nvSpPr>
        <p:spPr>
          <a:xfrm>
            <a:off x="4663440" y="292608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sp>
        <p:nvSpPr>
          <p:cNvPr id="19" name="scen4 circle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pic>
        <p:nvPicPr>
          <p:cNvPr id="20" name="scen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079" y="3239719"/>
            <a:ext cx="241402" cy="241402"/>
          </a:xfrm>
          <a:prstGeom prst="rect">
            <a:avLst/>
          </a:prstGeom>
        </p:spPr>
      </p:pic>
      <p:sp>
        <p:nvSpPr>
          <p:cNvPr id="21" name="scen name 4"/>
          <p:cNvSpPr txBox="1"/>
          <p:nvPr/>
        </p:nvSpPr>
        <p:spPr>
          <a:xfrm>
            <a:off x="5486400" y="3090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locks</a:t>
            </a:r>
            <a:endParaRPr lang="en-US" sz="1400" dirty="0"/>
          </a:p>
        </p:txBody>
      </p:sp>
      <p:sp>
        <p:nvSpPr>
          <p:cNvPr id="22" name="scen meta 4"/>
          <p:cNvSpPr txBox="1"/>
          <p:nvPr/>
        </p:nvSpPr>
        <p:spPr>
          <a:xfrm>
            <a:off x="548640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Skarnyx  ·  no clock, that is the problem</a:t>
            </a:r>
            <a:endParaRPr lang="en-US" sz="1050" dirty="0"/>
          </a:p>
        </p:txBody>
      </p:sp>
      <p:sp>
        <p:nvSpPr>
          <p:cNvPr id="23" name="scen choice 4"/>
          <p:cNvSpPr txBox="1"/>
          <p:nvPr/>
        </p:nvSpPr>
        <p:spPr>
          <a:xfrm>
            <a:off x="4846320" y="37307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Raise a three-city alert on a sonar log alone, or wait for something to surface and lose the lakes.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You are the incident commander</a:t>
            </a:r>
            <a:endParaRPr lang="en-US" sz="3200" dirty="0"/>
          </a:p>
        </p:txBody>
      </p:sp>
      <p:sp>
        <p:nvSpPr>
          <p:cNvPr id="3" name="role0 circle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4" name="role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468526"/>
            <a:ext cx="263347" cy="263347"/>
          </a:xfrm>
          <a:prstGeom prst="rect">
            <a:avLst/>
          </a:prstGeom>
        </p:spPr>
      </p:pic>
      <p:sp>
        <p:nvSpPr>
          <p:cNvPr id="5" name="role head 0"/>
          <p:cNvSpPr txBox="1"/>
          <p:nvPr/>
        </p:nvSpPr>
        <p:spPr>
          <a:xfrm>
            <a:off x="1325880" y="1325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Full authority</a:t>
            </a:r>
            <a:endParaRPr lang="en-US" sz="1700" dirty="0"/>
          </a:p>
        </p:txBody>
      </p:sp>
      <p:sp>
        <p:nvSpPr>
          <p:cNvPr id="6" name="role body 0"/>
          <p:cNvSpPr txBox="1"/>
          <p:nvPr/>
        </p:nvSpPr>
        <p:spPr>
          <a:xfrm>
            <a:off x="1325880" y="16184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Airport, police, WSDOT, Titan Watch: they all answer to you. Order anything. Nobody argues.</a:t>
            </a:r>
            <a:endParaRPr lang="en-US" sz="1250" dirty="0"/>
          </a:p>
        </p:txBody>
      </p:sp>
      <p:sp>
        <p:nvSpPr>
          <p:cNvPr id="7" name="role1 circle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8" name="role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291486"/>
            <a:ext cx="263347" cy="263347"/>
          </a:xfrm>
          <a:prstGeom prst="rect">
            <a:avLst/>
          </a:prstGeom>
        </p:spPr>
      </p:pic>
      <p:sp>
        <p:nvSpPr>
          <p:cNvPr id="9" name="role head 1"/>
          <p:cNvSpPr txBox="1"/>
          <p:nvPr/>
        </p:nvSpPr>
        <p:spPr>
          <a:xfrm>
            <a:off x="1325880" y="2148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No screen of your own</a:t>
            </a:r>
            <a:endParaRPr lang="en-US" sz="1700" dirty="0"/>
          </a:p>
        </p:txBody>
      </p:sp>
      <p:sp>
        <p:nvSpPr>
          <p:cNvPr id="10" name="role body 1"/>
          <p:cNvSpPr txBox="1"/>
          <p:nvPr/>
        </p:nvSpPr>
        <p:spPr>
          <a:xfrm>
            <a:off x="1325880" y="2441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You see only what the specialists report, when they report it. Nine of them have already been interviewed.</a:t>
            </a:r>
            <a:endParaRPr lang="en-US" sz="1250" dirty="0"/>
          </a:p>
        </p:txBody>
      </p:sp>
      <p:sp>
        <p:nvSpPr>
          <p:cNvPr id="11" name="role2 circle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12" name="role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114446"/>
            <a:ext cx="263347" cy="263347"/>
          </a:xfrm>
          <a:prstGeom prst="rect">
            <a:avLst/>
          </a:prstGeom>
        </p:spPr>
      </p:pic>
      <p:sp>
        <p:nvSpPr>
          <p:cNvPr id="13" name="role head 2"/>
          <p:cNvSpPr txBox="1"/>
          <p:nvPr/>
        </p:nvSpPr>
        <p:spPr>
          <a:xfrm>
            <a:off x="1325880" y="2971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Three phrases</a:t>
            </a:r>
            <a:endParaRPr lang="en-US" sz="1700" dirty="0"/>
          </a:p>
        </p:txBody>
      </p:sp>
      <p:sp>
        <p:nvSpPr>
          <p:cNvPr id="14" name="role body 2"/>
          <p:cNvSpPr txBox="1"/>
          <p:nvPr/>
        </p:nvSpPr>
        <p:spPr>
          <a:xfrm>
            <a:off x="132588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"I do not know."   "Assume and label it."   "Ask the specialist, then tell me."</a:t>
            </a:r>
            <a:endParaRPr lang="en-US" sz="1250" dirty="0"/>
          </a:p>
        </p:txBody>
      </p:sp>
      <p:sp>
        <p:nvSpPr>
          <p:cNvPr id="15" name="role3 circle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16" name="role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3937406"/>
            <a:ext cx="263347" cy="263347"/>
          </a:xfrm>
          <a:prstGeom prst="rect">
            <a:avLst/>
          </a:prstGeom>
        </p:spPr>
      </p:pic>
      <p:sp>
        <p:nvSpPr>
          <p:cNvPr id="17" name="role head 3"/>
          <p:cNvSpPr txBox="1"/>
          <p:nvPr/>
        </p:nvSpPr>
        <p:spPr>
          <a:xfrm>
            <a:off x="132588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Graded on</a:t>
            </a:r>
            <a:endParaRPr lang="en-US" sz="1700" dirty="0"/>
          </a:p>
        </p:txBody>
      </p:sp>
      <p:sp>
        <p:nvSpPr>
          <p:cNvPr id="18" name="role body 3"/>
          <p:cNvSpPr txBox="1"/>
          <p:nvPr/>
        </p:nvSpPr>
        <p:spPr>
          <a:xfrm>
            <a:off x="1325880" y="40873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Lives first, then property. And whether every decision was a decision, recorded, with a name on it.</a:t>
            </a:r>
            <a:endParaRPr lang="en-US" sz="1250" dirty="0"/>
          </a:p>
        </p:txBody>
      </p:sp>
      <p:pic>
        <p:nvPicPr>
          <p:cNvPr id="19" name="mascot alarm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34440"/>
            <a:ext cx="2743200" cy="2743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Lab 1  ·  Discovery</a:t>
            </a:r>
            <a:endParaRPr lang="en-US" sz="3000" dirty="0"/>
          </a:p>
        </p:txBody>
      </p:sp>
      <p:sp>
        <p:nvSpPr>
          <p:cNvPr id="3" name="lab command"/>
          <p:cNvSpPr txBox="1"/>
          <p:nvPr/>
        </p:nvSpPr>
        <p:spPr>
          <a:xfrm>
            <a:off x="548640" y="1143000"/>
            <a:ext cx="5120640" cy="640080"/>
          </a:xfrm>
          <a:prstGeom prst="rect">
            <a:avLst/>
          </a:prstGeom>
          <a:solidFill>
            <a:srgbClr val="F3F3F7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   then   /hve-core:dt-coach</a:t>
            </a:r>
            <a:endParaRPr lang="en-US" sz="1400" dirty="0"/>
          </a:p>
        </p:txBody>
      </p:sp>
      <p:sp>
        <p:nvSpPr>
          <p:cNvPr id="4" name="step circle 0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5" name="step num 0"/>
          <p:cNvSpPr txBox="1"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head 0"/>
          <p:cNvSpPr txBox="1"/>
          <p:nvPr/>
        </p:nvSpPr>
        <p:spPr>
          <a:xfrm>
            <a:off x="1051560" y="19202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Pick your scenario from the coach's list</a:t>
            </a:r>
            <a:endParaRPr lang="en-US" sz="1400" dirty="0"/>
          </a:p>
        </p:txBody>
      </p:sp>
      <p:sp>
        <p:nvSpPr>
          <p:cNvPr id="7" name="step body 0"/>
          <p:cNvSpPr txBox="1"/>
          <p:nvPr/>
        </p:nvSpPr>
        <p:spPr>
          <a:xfrm>
            <a:off x="1051560" y="21671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Say: I am the incident commander. Start the interview.</a:t>
            </a:r>
            <a:endParaRPr lang="en-US" sz="1100" dirty="0"/>
          </a:p>
        </p:txBody>
      </p:sp>
      <p:sp>
        <p:nvSpPr>
          <p:cNvPr id="8" name="step circle 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9" name="step num 1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head 1"/>
          <p:cNvSpPr txBox="1"/>
          <p:nvPr/>
        </p:nvSpPr>
        <p:spPr>
          <a:xfrm>
            <a:off x="1051560" y="2560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 five questions as the commander</a:t>
            </a:r>
            <a:endParaRPr lang="en-US" sz="1400" dirty="0"/>
          </a:p>
        </p:txBody>
      </p:sp>
      <p:sp>
        <p:nvSpPr>
          <p:cNvPr id="11" name="step body 1"/>
          <p:cNvSpPr txBox="1"/>
          <p:nvPr/>
        </p:nvSpPr>
        <p:spPr>
          <a:xfrm>
            <a:off x="1051560" y="28072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From what the specialists reported. "I do not know" and "assume and label it" are good answers.</a:t>
            </a:r>
            <a:endParaRPr lang="en-US" sz="1100" dirty="0"/>
          </a:p>
        </p:txBody>
      </p:sp>
      <p:sp>
        <p:nvSpPr>
          <p:cNvPr id="12" name="step circle 2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3" name="step num 2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head 2"/>
          <p:cNvSpPr txBox="1"/>
          <p:nvPr/>
        </p:nvSpPr>
        <p:spPr>
          <a:xfrm>
            <a:off x="1051560" y="32004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Paste run sheet step 3</a:t>
            </a:r>
            <a:endParaRPr lang="en-US" sz="1400" dirty="0"/>
          </a:p>
        </p:txBody>
      </p:sp>
      <p:sp>
        <p:nvSpPr>
          <p:cNvPr id="15" name="step body 2"/>
          <p:cNvSpPr txBox="1"/>
          <p:nvPr/>
        </p:nvSpPr>
        <p:spPr>
          <a:xfrm>
            <a:off x="1051560" y="344728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coach restates the outcome, synthesises, writes a PRD, a diagram and an Azure overlay. 10 to 15 minutes, hands off.</a:t>
            </a:r>
            <a:endParaRPr lang="en-US" sz="1100" dirty="0"/>
          </a:p>
        </p:txBody>
      </p:sp>
      <p:sp>
        <p:nvSpPr>
          <p:cNvPr id="16" name="step circle 3"/>
          <p:cNvSpPr/>
          <p:nvPr/>
        </p:nvSpPr>
        <p:spPr>
          <a:xfrm>
            <a:off x="548640" y="385876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7" name="step num 3"/>
          <p:cNvSpPr txBox="1"/>
          <p:nvPr/>
        </p:nvSpPr>
        <p:spPr>
          <a:xfrm>
            <a:off x="5486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head 3"/>
          <p:cNvSpPr txBox="1"/>
          <p:nvPr/>
        </p:nvSpPr>
        <p:spPr>
          <a:xfrm>
            <a:off x="1051560" y="38404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Write down one question you did not expect</a:t>
            </a:r>
            <a:endParaRPr lang="en-US" sz="1400" dirty="0"/>
          </a:p>
        </p:txBody>
      </p:sp>
      <p:sp>
        <p:nvSpPr>
          <p:cNvPr id="19" name="step body 3"/>
          <p:cNvSpPr txBox="1"/>
          <p:nvPr/>
        </p:nvSpPr>
        <p:spPr>
          <a:xfrm>
            <a:off x="1051560" y="408736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That is your show-and-tell item.</a:t>
            </a:r>
            <a:endParaRPr lang="en-US" sz="1100" dirty="0"/>
          </a:p>
        </p:txBody>
      </p:sp>
      <p:sp>
        <p:nvSpPr>
          <p:cNvPr id="20" name="side card"/>
          <p:cNvSpPr/>
          <p:nvPr/>
        </p:nvSpPr>
        <p:spPr>
          <a:xfrm>
            <a:off x="5943600" y="114300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sp>
        <p:nvSpPr>
          <p:cNvPr id="21" name="done circle"/>
          <p:cNvSpPr/>
          <p:nvPr/>
        </p:nvSpPr>
        <p:spPr>
          <a:xfrm>
            <a:off x="6126480" y="13258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2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444752"/>
            <a:ext cx="219456" cy="219456"/>
          </a:xfrm>
          <a:prstGeom prst="rect">
            <a:avLst/>
          </a:prstGeom>
        </p:spPr>
      </p:pic>
      <p:sp>
        <p:nvSpPr>
          <p:cNvPr id="23" name="lab minutes"/>
          <p:cNvSpPr txBox="1"/>
          <p:nvPr/>
        </p:nvSpPr>
        <p:spPr>
          <a:xfrm>
            <a:off x="7680960" y="1417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 min</a:t>
            </a:r>
            <a:endParaRPr lang="en-US" sz="1200" dirty="0"/>
          </a:p>
        </p:txBody>
      </p:sp>
      <p:sp>
        <p:nvSpPr>
          <p:cNvPr id="24" name="done head"/>
          <p:cNvSpPr txBox="1"/>
          <p:nvPr/>
        </p:nvSpPr>
        <p:spPr>
          <a:xfrm>
            <a:off x="667512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Done when</a:t>
            </a:r>
            <a:endParaRPr lang="en-US" sz="1400" dirty="0"/>
          </a:p>
        </p:txBody>
      </p:sp>
      <p:sp>
        <p:nvSpPr>
          <p:cNvPr id="25" name="done body"/>
          <p:cNvSpPr txBox="1"/>
          <p:nvPr/>
        </p:nvSpPr>
        <p:spPr>
          <a:xfrm>
            <a:off x="6126480" y="18745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PRD, diagram and Azure overlay exist in your scenario folder under .copilot-tracking/dt/.</a:t>
            </a:r>
            <a:endParaRPr lang="en-US" sz="1150" dirty="0"/>
          </a:p>
        </p:txBody>
      </p:sp>
      <p:sp>
        <p:nvSpPr>
          <p:cNvPr id="26" name="extra head"/>
          <p:cNvSpPr txBox="1"/>
          <p:nvPr/>
        </p:nvSpPr>
        <p:spPr>
          <a:xfrm>
            <a:off x="61264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Rules</a:t>
            </a:r>
            <a:endParaRPr lang="en-US" sz="1200" dirty="0"/>
          </a:p>
        </p:txBody>
      </p:sp>
      <p:sp>
        <p:nvSpPr>
          <p:cNvPr id="27" name="extra body"/>
          <p:cNvSpPr txBox="1"/>
          <p:nvPr/>
        </p:nvSpPr>
        <p:spPr>
          <a:xfrm>
            <a:off x="6126480" y="32461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Approve every prompt by hand. Never auto-approve. Decline the canonical deck. No commits, no pushes.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Lab 2  ·  Security and Responsible AI</a:t>
            </a:r>
            <a:endParaRPr lang="en-US" sz="3000" dirty="0"/>
          </a:p>
        </p:txBody>
      </p:sp>
      <p:sp>
        <p:nvSpPr>
          <p:cNvPr id="3" name="lab command"/>
          <p:cNvSpPr txBox="1"/>
          <p:nvPr/>
        </p:nvSpPr>
        <p:spPr>
          <a:xfrm>
            <a:off x="548640" y="1143000"/>
            <a:ext cx="5120640" cy="640080"/>
          </a:xfrm>
          <a:prstGeom prst="rect">
            <a:avLst/>
          </a:prstGeom>
          <a:solidFill>
            <a:srgbClr val="F3F3F7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/hve-core:security-planner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/hve-core:rai-planner-agent</a:t>
            </a:r>
            <a:endParaRPr lang="en-US" sz="1400" dirty="0"/>
          </a:p>
        </p:txBody>
      </p:sp>
      <p:sp>
        <p:nvSpPr>
          <p:cNvPr id="4" name="step circle 0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5" name="step num 0"/>
          <p:cNvSpPr txBox="1"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head 0"/>
          <p:cNvSpPr txBox="1"/>
          <p:nvPr/>
        </p:nvSpPr>
        <p:spPr>
          <a:xfrm>
            <a:off x="1051560" y="19202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Write three findings you predict. Paper.</a:t>
            </a:r>
            <a:endParaRPr lang="en-US" sz="1400" dirty="0"/>
          </a:p>
        </p:txBody>
      </p:sp>
      <p:sp>
        <p:nvSpPr>
          <p:cNvPr id="7" name="step body 0"/>
          <p:cNvSpPr txBox="1"/>
          <p:nvPr/>
        </p:nvSpPr>
        <p:spPr>
          <a:xfrm>
            <a:off x="1051560" y="21671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 anyone types.</a:t>
            </a:r>
            <a:endParaRPr lang="en-US" sz="1100" dirty="0"/>
          </a:p>
        </p:txBody>
      </p:sp>
      <p:sp>
        <p:nvSpPr>
          <p:cNvPr id="8" name="step circle 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9" name="step num 1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head 1"/>
          <p:cNvSpPr txBox="1"/>
          <p:nvPr/>
        </p:nvSpPr>
        <p:spPr>
          <a:xfrm>
            <a:off x="1051560" y="2560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Two Claude Code windows, side by side</a:t>
            </a:r>
            <a:endParaRPr lang="en-US" sz="1400" dirty="0"/>
          </a:p>
        </p:txBody>
      </p:sp>
      <p:sp>
        <p:nvSpPr>
          <p:cNvPr id="11" name="step body 1"/>
          <p:cNvSpPr txBox="1"/>
          <p:nvPr/>
        </p:nvSpPr>
        <p:spPr>
          <a:xfrm>
            <a:off x="1051560" y="28072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Security in one, RAI in the other. Run sheet steps 5 and 6. They never read each other.</a:t>
            </a:r>
            <a:endParaRPr lang="en-US" sz="1100" dirty="0"/>
          </a:p>
        </p:txBody>
      </p:sp>
      <p:sp>
        <p:nvSpPr>
          <p:cNvPr id="12" name="step circle 2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3" name="step num 2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head 2"/>
          <p:cNvSpPr txBox="1"/>
          <p:nvPr/>
        </p:nvSpPr>
        <p:spPr>
          <a:xfrm>
            <a:off x="1051560" y="32004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Security planner runs six phases</a:t>
            </a:r>
            <a:endParaRPr lang="en-US" sz="1400" dirty="0"/>
          </a:p>
        </p:txBody>
      </p:sp>
      <p:sp>
        <p:nvSpPr>
          <p:cNvPr id="15" name="step body 2"/>
          <p:cNvSpPr txBox="1"/>
          <p:nvPr/>
        </p:nvSpPr>
        <p:spPr>
          <a:xfrm>
            <a:off x="1051560" y="344728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 to 20 minutes. Approve prompts. Never "assume I confirm everything".</a:t>
            </a:r>
            <a:endParaRPr lang="en-US" sz="1100" dirty="0"/>
          </a:p>
        </p:txBody>
      </p:sp>
      <p:sp>
        <p:nvSpPr>
          <p:cNvPr id="16" name="step circle 3"/>
          <p:cNvSpPr/>
          <p:nvPr/>
        </p:nvSpPr>
        <p:spPr>
          <a:xfrm>
            <a:off x="548640" y="385876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7" name="step num 3"/>
          <p:cNvSpPr txBox="1"/>
          <p:nvPr/>
        </p:nvSpPr>
        <p:spPr>
          <a:xfrm>
            <a:off x="5486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head 3"/>
          <p:cNvSpPr txBox="1"/>
          <p:nvPr/>
        </p:nvSpPr>
        <p:spPr>
          <a:xfrm>
            <a:off x="1051560" y="38404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RAI planner assesses the Last Stand coin flip</a:t>
            </a:r>
            <a:endParaRPr lang="en-US" sz="1400" dirty="0"/>
          </a:p>
        </p:txBody>
      </p:sp>
      <p:sp>
        <p:nvSpPr>
          <p:cNvPr id="19" name="step body 3"/>
          <p:cNvSpPr txBox="1"/>
          <p:nvPr/>
        </p:nvSpPr>
        <p:spPr>
          <a:xfrm>
            <a:off x="1051560" y="408736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Read its two opening observations before you reply. Do not argue the risk down.</a:t>
            </a:r>
            <a:endParaRPr lang="en-US" sz="1100" dirty="0"/>
          </a:p>
        </p:txBody>
      </p:sp>
      <p:sp>
        <p:nvSpPr>
          <p:cNvPr id="20" name="side card"/>
          <p:cNvSpPr/>
          <p:nvPr/>
        </p:nvSpPr>
        <p:spPr>
          <a:xfrm>
            <a:off x="5943600" y="114300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sp>
        <p:nvSpPr>
          <p:cNvPr id="21" name="done circle"/>
          <p:cNvSpPr/>
          <p:nvPr/>
        </p:nvSpPr>
        <p:spPr>
          <a:xfrm>
            <a:off x="6126480" y="13258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2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444752"/>
            <a:ext cx="219456" cy="219456"/>
          </a:xfrm>
          <a:prstGeom prst="rect">
            <a:avLst/>
          </a:prstGeom>
        </p:spPr>
      </p:pic>
      <p:sp>
        <p:nvSpPr>
          <p:cNvPr id="23" name="lab minutes"/>
          <p:cNvSpPr txBox="1"/>
          <p:nvPr/>
        </p:nvSpPr>
        <p:spPr>
          <a:xfrm>
            <a:off x="7680960" y="1417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 min</a:t>
            </a:r>
            <a:endParaRPr lang="en-US" sz="1200" dirty="0"/>
          </a:p>
        </p:txBody>
      </p:sp>
      <p:sp>
        <p:nvSpPr>
          <p:cNvPr id="24" name="done head"/>
          <p:cNvSpPr txBox="1"/>
          <p:nvPr/>
        </p:nvSpPr>
        <p:spPr>
          <a:xfrm>
            <a:off x="667512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Done when</a:t>
            </a:r>
            <a:endParaRPr lang="en-US" sz="1400" dirty="0"/>
          </a:p>
        </p:txBody>
      </p:sp>
      <p:sp>
        <p:nvSpPr>
          <p:cNvPr id="25" name="done body"/>
          <p:cNvSpPr txBox="1"/>
          <p:nvPr/>
        </p:nvSpPr>
        <p:spPr>
          <a:xfrm>
            <a:off x="6126480" y="18745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Severity summary from the security planner compared with your paper. Go or no-go from the RAI planner.</a:t>
            </a:r>
            <a:endParaRPr lang="en-US" sz="1150" dirty="0"/>
          </a:p>
        </p:txBody>
      </p:sp>
      <p:sp>
        <p:nvSpPr>
          <p:cNvPr id="26" name="extra head"/>
          <p:cNvSpPr txBox="1"/>
          <p:nvPr/>
        </p:nvSpPr>
        <p:spPr>
          <a:xfrm>
            <a:off x="61264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Watch for</a:t>
            </a:r>
            <a:endParaRPr lang="en-US" sz="1200" dirty="0"/>
          </a:p>
        </p:txBody>
      </p:sp>
      <p:sp>
        <p:nvSpPr>
          <p:cNvPr id="27" name="extra body"/>
          <p:cNvSpPr txBox="1"/>
          <p:nvPr/>
        </p:nvSpPr>
        <p:spPr>
          <a:xfrm>
            <a:off x="6126480" y="32461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Prompts arrive from both windows. Approve the right one. One screen? Run security first, then RAI.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Lab 3  ·  Research, Plan, Implement</a:t>
            </a:r>
            <a:endParaRPr lang="en-US" sz="3000" dirty="0"/>
          </a:p>
        </p:txBody>
      </p:sp>
      <p:sp>
        <p:nvSpPr>
          <p:cNvPr id="3" name="lab command"/>
          <p:cNvSpPr txBox="1"/>
          <p:nvPr/>
        </p:nvSpPr>
        <p:spPr>
          <a:xfrm>
            <a:off x="548640" y="1143000"/>
            <a:ext cx="5120640" cy="640080"/>
          </a:xfrm>
          <a:prstGeom prst="rect">
            <a:avLst/>
          </a:prstGeom>
          <a:solidFill>
            <a:srgbClr val="F3F3F7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   then   /hve-core:rpi-agent</a:t>
            </a:r>
            <a:endParaRPr lang="en-US" sz="1400" dirty="0"/>
          </a:p>
        </p:txBody>
      </p:sp>
      <p:sp>
        <p:nvSpPr>
          <p:cNvPr id="4" name="step circle 0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5" name="step num 0"/>
          <p:cNvSpPr txBox="1"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head 0"/>
          <p:cNvSpPr txBox="1"/>
          <p:nvPr/>
        </p:nvSpPr>
        <p:spPr>
          <a:xfrm>
            <a:off x="1051560" y="19202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Pick one requirement from your PRD</a:t>
            </a:r>
            <a:endParaRPr lang="en-US" sz="1400" dirty="0"/>
          </a:p>
        </p:txBody>
      </p:sp>
      <p:sp>
        <p:nvSpPr>
          <p:cNvPr id="7" name="step body 0"/>
          <p:cNvSpPr txBox="1"/>
          <p:nvPr/>
        </p:nvSpPr>
        <p:spPr>
          <a:xfrm>
            <a:off x="1051560" y="21671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One screen, one rule, one feed. Not the whole PRD.</a:t>
            </a:r>
            <a:endParaRPr lang="en-US" sz="1100" dirty="0"/>
          </a:p>
        </p:txBody>
      </p:sp>
      <p:sp>
        <p:nvSpPr>
          <p:cNvPr id="8" name="step circle 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9" name="step num 1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head 1"/>
          <p:cNvSpPr txBox="1"/>
          <p:nvPr/>
        </p:nvSpPr>
        <p:spPr>
          <a:xfrm>
            <a:off x="1051560" y="2560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Ask: what do you need to create an RPI plan?</a:t>
            </a:r>
            <a:endParaRPr lang="en-US" sz="1400" dirty="0"/>
          </a:p>
        </p:txBody>
      </p:sp>
      <p:sp>
        <p:nvSpPr>
          <p:cNvPr id="11" name="step body 1"/>
          <p:cNvSpPr txBox="1"/>
          <p:nvPr/>
        </p:nvSpPr>
        <p:spPr>
          <a:xfrm>
            <a:off x="1051560" y="28072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It lists six things. Paste run sheet step 9 with your six answers.</a:t>
            </a:r>
            <a:endParaRPr lang="en-US" sz="1100" dirty="0"/>
          </a:p>
        </p:txBody>
      </p:sp>
      <p:sp>
        <p:nvSpPr>
          <p:cNvPr id="12" name="step circle 2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3" name="step num 2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head 2"/>
          <p:cNvSpPr txBox="1"/>
          <p:nvPr/>
        </p:nvSpPr>
        <p:spPr>
          <a:xfrm>
            <a:off x="1051560" y="32004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Research stops. Read it, fix the file, then /hve-core:rpi-plan</a:t>
            </a:r>
            <a:endParaRPr lang="en-US" sz="1400" dirty="0"/>
          </a:p>
        </p:txBody>
      </p:sp>
      <p:sp>
        <p:nvSpPr>
          <p:cNvPr id="15" name="step body 2"/>
          <p:cNvSpPr txBox="1"/>
          <p:nvPr/>
        </p:nvSpPr>
        <p:spPr>
          <a:xfrm>
            <a:off x="1051560" y="344728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Correct the artifact, not the chat.</a:t>
            </a:r>
            <a:endParaRPr lang="en-US" sz="1100" dirty="0"/>
          </a:p>
        </p:txBody>
      </p:sp>
      <p:sp>
        <p:nvSpPr>
          <p:cNvPr id="16" name="step circle 3"/>
          <p:cNvSpPr/>
          <p:nvPr/>
        </p:nvSpPr>
        <p:spPr>
          <a:xfrm>
            <a:off x="548640" y="385876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7" name="step num 3"/>
          <p:cNvSpPr txBox="1"/>
          <p:nvPr/>
        </p:nvSpPr>
        <p:spPr>
          <a:xfrm>
            <a:off x="5486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head 3"/>
          <p:cNvSpPr txBox="1"/>
          <p:nvPr/>
        </p:nvSpPr>
        <p:spPr>
          <a:xfrm>
            <a:off x="1051560" y="38404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 stops with a critique. Amend one item in the file</a:t>
            </a:r>
            <a:endParaRPr lang="en-US" sz="1400" dirty="0"/>
          </a:p>
        </p:txBody>
      </p:sp>
      <p:sp>
        <p:nvSpPr>
          <p:cNvPr id="19" name="step body 3"/>
          <p:cNvSpPr txBox="1"/>
          <p:nvPr/>
        </p:nvSpPr>
        <p:spPr>
          <a:xfrm>
            <a:off x="1051560" y="408736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status, a requirement, a test case. Then: plan amended in the file.</a:t>
            </a:r>
            <a:endParaRPr lang="en-US" sz="1100" dirty="0"/>
          </a:p>
        </p:txBody>
      </p:sp>
      <p:sp>
        <p:nvSpPr>
          <p:cNvPr id="20" name="side card"/>
          <p:cNvSpPr/>
          <p:nvPr/>
        </p:nvSpPr>
        <p:spPr>
          <a:xfrm>
            <a:off x="5943600" y="114300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sp>
        <p:nvSpPr>
          <p:cNvPr id="21" name="done circle"/>
          <p:cNvSpPr/>
          <p:nvPr/>
        </p:nvSpPr>
        <p:spPr>
          <a:xfrm>
            <a:off x="6126480" y="13258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2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444752"/>
            <a:ext cx="219456" cy="219456"/>
          </a:xfrm>
          <a:prstGeom prst="rect">
            <a:avLst/>
          </a:prstGeom>
        </p:spPr>
      </p:pic>
      <p:sp>
        <p:nvSpPr>
          <p:cNvPr id="23" name="lab minutes"/>
          <p:cNvSpPr txBox="1"/>
          <p:nvPr/>
        </p:nvSpPr>
        <p:spPr>
          <a:xfrm>
            <a:off x="7680960" y="1417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 min</a:t>
            </a:r>
            <a:endParaRPr lang="en-US" sz="1200" dirty="0"/>
          </a:p>
        </p:txBody>
      </p:sp>
      <p:sp>
        <p:nvSpPr>
          <p:cNvPr id="24" name="done head"/>
          <p:cNvSpPr txBox="1"/>
          <p:nvPr/>
        </p:nvSpPr>
        <p:spPr>
          <a:xfrm>
            <a:off x="667512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Done when</a:t>
            </a:r>
            <a:endParaRPr lang="en-US" sz="1400" dirty="0"/>
          </a:p>
        </p:txBody>
      </p:sp>
      <p:sp>
        <p:nvSpPr>
          <p:cNvPr id="25" name="done body"/>
          <p:cNvSpPr txBox="1"/>
          <p:nvPr/>
        </p:nvSpPr>
        <p:spPr>
          <a:xfrm>
            <a:off x="6126480" y="18745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Research and plan exist. The plan carries your amendment. The critique has run.</a:t>
            </a:r>
            <a:endParaRPr lang="en-US" sz="1150" dirty="0"/>
          </a:p>
        </p:txBody>
      </p:sp>
      <p:sp>
        <p:nvSpPr>
          <p:cNvPr id="26" name="extra head"/>
          <p:cNvSpPr txBox="1"/>
          <p:nvPr/>
        </p:nvSpPr>
        <p:spPr>
          <a:xfrm>
            <a:off x="61264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Homework</a:t>
            </a:r>
            <a:endParaRPr lang="en-US" sz="1200" dirty="0"/>
          </a:p>
        </p:txBody>
      </p:sp>
      <p:sp>
        <p:nvSpPr>
          <p:cNvPr id="27" name="extra body"/>
          <p:cNvSpPr txBox="1"/>
          <p:nvPr/>
        </p:nvSpPr>
        <p:spPr>
          <a:xfrm>
            <a:off x="6126480" y="32461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/hve-core:rpi-implement then /hve-core:rpi-review. Bring the verdict. Complete is not accepted; the review says what is missing.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Show-and-tell</a:t>
            </a:r>
            <a:endParaRPr lang="en-US" sz="3200" dirty="0"/>
          </a:p>
        </p:txBody>
      </p:sp>
      <p:sp>
        <p:nvSpPr>
          <p:cNvPr id="3" name="close intro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Three minutes per scenario, one presenter. Four items, one sentence each.</a:t>
            </a:r>
            <a:endParaRPr lang="en-US" sz="1400" dirty="0"/>
          </a:p>
        </p:txBody>
      </p:sp>
      <p:sp>
        <p:nvSpPr>
          <p:cNvPr id="4" name="close card 0"/>
          <p:cNvSpPr/>
          <p:nvPr/>
        </p:nvSpPr>
        <p:spPr>
          <a:xfrm>
            <a:off x="548640" y="17830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5" name="close0 circle"/>
          <p:cNvSpPr/>
          <p:nvPr/>
        </p:nvSpPr>
        <p:spPr>
          <a:xfrm>
            <a:off x="731520" y="2039112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6" name="close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181758"/>
            <a:ext cx="263347" cy="263347"/>
          </a:xfrm>
          <a:prstGeom prst="rect">
            <a:avLst/>
          </a:prstGeom>
        </p:spPr>
      </p:pic>
      <p:sp>
        <p:nvSpPr>
          <p:cNvPr id="7" name="close text 0"/>
          <p:cNvSpPr txBox="1"/>
          <p:nvPr/>
        </p:nvSpPr>
        <p:spPr>
          <a:xfrm>
            <a:off x="146304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One coach question you did not expect</a:t>
            </a:r>
            <a:endParaRPr lang="en-US" sz="1500" dirty="0"/>
          </a:p>
        </p:txBody>
      </p:sp>
      <p:sp>
        <p:nvSpPr>
          <p:cNvPr id="8" name="close card 1"/>
          <p:cNvSpPr/>
          <p:nvPr/>
        </p:nvSpPr>
        <p:spPr>
          <a:xfrm>
            <a:off x="4663440" y="17830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9" name="close1 circle"/>
          <p:cNvSpPr/>
          <p:nvPr/>
        </p:nvSpPr>
        <p:spPr>
          <a:xfrm>
            <a:off x="4846320" y="2039112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10" name="close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66" y="2181758"/>
            <a:ext cx="263347" cy="263347"/>
          </a:xfrm>
          <a:prstGeom prst="rect">
            <a:avLst/>
          </a:prstGeom>
        </p:spPr>
      </p:pic>
      <p:sp>
        <p:nvSpPr>
          <p:cNvPr id="11" name="close text 1"/>
          <p:cNvSpPr txBox="1"/>
          <p:nvPr/>
        </p:nvSpPr>
        <p:spPr>
          <a:xfrm>
            <a:off x="557784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One Critical threat you did not predict</a:t>
            </a:r>
            <a:endParaRPr lang="en-US" sz="1500" dirty="0"/>
          </a:p>
        </p:txBody>
      </p:sp>
      <p:sp>
        <p:nvSpPr>
          <p:cNvPr id="12" name="close card 2"/>
          <p:cNvSpPr/>
          <p:nvPr/>
        </p:nvSpPr>
        <p:spPr>
          <a:xfrm>
            <a:off x="548640" y="30175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13" name="close2 circle"/>
          <p:cNvSpPr/>
          <p:nvPr/>
        </p:nvSpPr>
        <p:spPr>
          <a:xfrm>
            <a:off x="731520" y="3273552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14" name="close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416198"/>
            <a:ext cx="263347" cy="263347"/>
          </a:xfrm>
          <a:prstGeom prst="rect">
            <a:avLst/>
          </a:prstGeom>
        </p:spPr>
      </p:pic>
      <p:sp>
        <p:nvSpPr>
          <p:cNvPr id="15" name="close text 2"/>
          <p:cNvSpPr txBox="1"/>
          <p:nvPr/>
        </p:nvSpPr>
        <p:spPr>
          <a:xfrm>
            <a:off x="1463040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One plan amendment, and why</a:t>
            </a:r>
            <a:endParaRPr lang="en-US" sz="1500" dirty="0"/>
          </a:p>
        </p:txBody>
      </p:sp>
      <p:sp>
        <p:nvSpPr>
          <p:cNvPr id="16" name="close card 3"/>
          <p:cNvSpPr/>
          <p:nvPr/>
        </p:nvSpPr>
        <p:spPr>
          <a:xfrm>
            <a:off x="4663440" y="30175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17" name="close3 circle"/>
          <p:cNvSpPr/>
          <p:nvPr/>
        </p:nvSpPr>
        <p:spPr>
          <a:xfrm>
            <a:off x="4846320" y="3273552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18" name="close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966" y="3416198"/>
            <a:ext cx="263347" cy="263347"/>
          </a:xfrm>
          <a:prstGeom prst="rect">
            <a:avLst/>
          </a:prstGeom>
        </p:spPr>
      </p:pic>
      <p:sp>
        <p:nvSpPr>
          <p:cNvPr id="19" name="close text 3"/>
          <p:cNvSpPr txBox="1"/>
          <p:nvPr/>
        </p:nvSpPr>
        <p:spPr>
          <a:xfrm>
            <a:off x="5577840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Where the loop stopped</a:t>
            </a:r>
            <a:endParaRPr lang="en-US" sz="1500" dirty="0"/>
          </a:p>
        </p:txBody>
      </p:sp>
      <p:pic>
        <p:nvPicPr>
          <p:cNvPr id="20" name="mascot guid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114800"/>
            <a:ext cx="914400" cy="914400"/>
          </a:xfrm>
          <a:prstGeom prst="rect">
            <a:avLst/>
          </a:prstGeom>
        </p:spPr>
      </p:pic>
      <p:sp>
        <p:nvSpPr>
          <p:cNvPr id="21" name="close tagline"/>
          <p:cNvSpPr txBox="1"/>
          <p:nvPr/>
        </p:nvSpPr>
        <p:spPr>
          <a:xfrm>
            <a:off x="548640" y="4297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Gaps, not compliments.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an Watch">
  <a:themeElements>
    <a:clrScheme name="Titan Watch">
      <a:dk1>
        <a:srgbClr val="1B1F3B"/>
      </a:dk1>
      <a:lt1>
        <a:srgbClr val="FFFFFF"/>
      </a:lt1>
      <a:dk2>
        <a:srgbClr val="2E3466"/>
      </a:dk2>
      <a:lt2>
        <a:srgbClr val="F3F3F7"/>
      </a:lt2>
      <a:accent1>
        <a:srgbClr val="C58A00"/>
      </a:accent1>
      <a:accent2>
        <a:srgbClr val="3B3F8C"/>
      </a:accent2>
      <a:accent3>
        <a:srgbClr val="D64545"/>
      </a:accent3>
      <a:accent4>
        <a:srgbClr val="2A9D8F"/>
      </a:accent4>
      <a:accent5>
        <a:srgbClr val="6B7280"/>
      </a:accent5>
      <a:accent6>
        <a:srgbClr val="E7E8EF"/>
      </a:accent6>
      <a:hlink>
        <a:srgbClr val="3B3F8C"/>
      </a:hlink>
      <a:folHlink>
        <a:srgbClr val="6B7280"/>
      </a:folHlink>
    </a:clrScheme>
    <a:fontScheme name="Titan Wa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Kaiju Lab, compressed</dc:title>
  <dc:subject>PptxGenJS Presentation</dc:subject>
  <dc:creator>Capgemini FDE HVE training</dc:creator>
  <cp:lastModifiedBy>Capgemini FDE HVE training</cp:lastModifiedBy>
  <cp:revision>1</cp:revision>
  <dcterms:created xsi:type="dcterms:W3CDTF">2026-10-08T17:34:29Z</dcterms:created>
  <dcterms:modified xsi:type="dcterms:W3CDTF">2026-10-08T17:34:29Z</dcterms:modified>
</cp:coreProperties>
</file>