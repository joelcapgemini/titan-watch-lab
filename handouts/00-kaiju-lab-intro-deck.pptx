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26927e4-7996-eb2f-96ec-18a607b5c8f7}">
          <p14:sldIdLst>
            <p14:sldId id="256"/>
            <p14:sldId id="257"/>
            <p14:sldId id="258"/>
          </p14:sldIdLst>
        </p14:section>
        <p14:section name="Your scenario and role" id="{f329bf95-b873-7f02-958c-c1e9d99ee267}">
          <p14:sldIdLst>
            <p14:sldId id="259"/>
            <p14:sldId id="260"/>
          </p14:sldIdLst>
        </p14:section>
        <p14:section name="The labs" id="{29baba16-acdf-b9ee-91f1-d2c512b67875}">
          <p14:sldIdLst>
            <p14:sldId id="261"/>
            <p14:sldId id="262"/>
            <p14:sldId id="263"/>
          </p14:sldIdLst>
        </p14:section>
        <p14:section name="Close" id="{cb3b8aa6-6bd9-1b56-7696-66165a1ae593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in three minutes. Giant monsters in Puget Sound. Somebody vibe-coded a command centre. Looks fantastic, does nothing. Your job: one slice, toward production, the way we would for a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monsters: nobody has domain experience, so nobody skips discovery. The method transfers, the kaiju do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hosted demo live here if the network allows. Click a kaiju. Click Scramble Jets. Point at the Last Stand inset: that coin flip is Lab 2's Responsible AI seed.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minutes. Pick by interest, not by difficulty. Each pack is four pages: scenario, your card, run sheet. Read page one and your card, nothing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realistic on purpose. Easy to follow. The commander decides, the specialists act. The coach will quiz you on what the specialists said.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Checkpoints: 5 min everyone is being interviewed; 12 min synthesis running; 25 min PRD exists. Behind? Pair with a neighbour who is ahead.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Coffee goes while the planner runs. Over the break: which security standards has a client of yours actually named?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the plan checkpoint ask who amended rather than approved. Celebrate the amendments: that is the human gate 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questions: which finding would your team have missed? The review found zero defects and still refused acceptance; would you have shipped? What broke today, and would it break on a client machine?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</a:rPr>
              <a:t>Kaiju Lab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Kaiju Lab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CAPGEMINI FDE  ·  HVE TRAINING</a:t>
            </a:r>
            <a:endParaRPr lang="en-US" sz="1200" dirty="0"/>
          </a:p>
        </p:txBody>
      </p:sp>
      <p:sp>
        <p:nvSpPr>
          <p:cNvPr id="3" name="deck title"/>
          <p:cNvSpPr txBox="1"/>
          <p:nvPr/>
        </p:nvSpPr>
        <p:spPr>
          <a:xfrm>
            <a:off x="640080" y="15544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The Kaiju Lab</a:t>
            </a:r>
            <a:endParaRPr lang="en-US" sz="54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260604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One hour. Three labs. One monster. Take a slice of a vibe-coded command centre toward production with the HVE method and hve-core on Claude Code.</a:t>
            </a:r>
            <a:endParaRPr lang="en-US" sz="1600" dirty="0"/>
          </a:p>
        </p:txBody>
      </p:sp>
      <p:pic>
        <p:nvPicPr>
          <p:cNvPr id="5" name="masc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822960"/>
            <a:ext cx="3017520" cy="3017520"/>
          </a:xfrm>
          <a:prstGeom prst="rect">
            <a:avLst/>
          </a:prstGeom>
        </p:spPr>
      </p:pic>
      <p:sp>
        <p:nvSpPr>
          <p:cNvPr id="6" name="repo"/>
          <p:cNvSpPr txBox="1"/>
          <p:nvPr/>
        </p:nvSpPr>
        <p:spPr>
          <a:xfrm>
            <a:off x="64008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Project Titan Watch  ·  github.com/joelcapgemini/titan-watch-lab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we are doing</a:t>
            </a:r>
            <a:endParaRPr lang="en-US" sz="3000" dirty="0"/>
          </a:p>
        </p:txBody>
      </p:sp>
      <p:sp>
        <p:nvSpPr>
          <p:cNvPr id="3" name="stat scenarios"/>
          <p:cNvSpPr txBox="1"/>
          <p:nvPr/>
        </p:nvSpPr>
        <p:spPr>
          <a:xfrm>
            <a:off x="548640" y="1143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4</a:t>
            </a:r>
            <a:endParaRPr lang="en-US" sz="6000" dirty="0"/>
          </a:p>
        </p:txBody>
      </p:sp>
      <p:sp>
        <p:nvSpPr>
          <p:cNvPr id="4" name="stat label scenarios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scenarios</a:t>
            </a:r>
            <a:endParaRPr lang="en-US" sz="1400" dirty="0"/>
          </a:p>
        </p:txBody>
      </p:sp>
      <p:sp>
        <p:nvSpPr>
          <p:cNvPr id="5" name="stat labs"/>
          <p:cNvSpPr txBox="1"/>
          <p:nvPr/>
        </p:nvSpPr>
        <p:spPr>
          <a:xfrm>
            <a:off x="2926080" y="1143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3</a:t>
            </a:r>
            <a:endParaRPr lang="en-US" sz="6000" dirty="0"/>
          </a:p>
        </p:txBody>
      </p:sp>
      <p:sp>
        <p:nvSpPr>
          <p:cNvPr id="6" name="stat label labs"/>
          <p:cNvSpPr txBox="1"/>
          <p:nvPr/>
        </p:nvSpPr>
        <p:spPr>
          <a:xfrm>
            <a:off x="292608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labs</a:t>
            </a:r>
            <a:endParaRPr lang="en-US" sz="1400" dirty="0"/>
          </a:p>
        </p:txBody>
      </p:sp>
      <p:sp>
        <p:nvSpPr>
          <p:cNvPr id="7" name="row0 circle"/>
          <p:cNvSpPr/>
          <p:nvPr/>
        </p:nvSpPr>
        <p:spPr>
          <a:xfrm>
            <a:off x="548640" y="2606040"/>
            <a:ext cx="475488" cy="47548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pic>
        <p:nvPicPr>
          <p:cNvPr id="8" name="row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267" y="2729667"/>
            <a:ext cx="228234" cy="228234"/>
          </a:xfrm>
          <a:prstGeom prst="rect">
            <a:avLst/>
          </a:prstGeom>
        </p:spPr>
      </p:pic>
      <p:sp>
        <p:nvSpPr>
          <p:cNvPr id="9" name="row head 0"/>
          <p:cNvSpPr txBox="1"/>
          <p:nvPr/>
        </p:nvSpPr>
        <p:spPr>
          <a:xfrm>
            <a:off x="1188720" y="26060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demo that looks done</a:t>
            </a:r>
            <a:endParaRPr lang="en-US" sz="1500" dirty="0"/>
          </a:p>
        </p:txBody>
      </p:sp>
      <p:sp>
        <p:nvSpPr>
          <p:cNvPr id="10" name="row body 0"/>
          <p:cNvSpPr txBox="1"/>
          <p:nvPr/>
        </p:nvSpPr>
        <p:spPr>
          <a:xfrm>
            <a:off x="1188720" y="286207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The Titan Watch command centre renders a map, a roster, a dispatch panel. None of it does anything.</a:t>
            </a:r>
            <a:endParaRPr lang="en-US" sz="1200" dirty="0"/>
          </a:p>
        </p:txBody>
      </p:sp>
      <p:sp>
        <p:nvSpPr>
          <p:cNvPr id="11" name="row1 circle"/>
          <p:cNvSpPr/>
          <p:nvPr/>
        </p:nvSpPr>
        <p:spPr>
          <a:xfrm>
            <a:off x="548640" y="3291840"/>
            <a:ext cx="475488" cy="47548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pic>
        <p:nvPicPr>
          <p:cNvPr id="12" name="row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67" y="3415467"/>
            <a:ext cx="228234" cy="228234"/>
          </a:xfrm>
          <a:prstGeom prst="rect">
            <a:avLst/>
          </a:prstGeom>
        </p:spPr>
      </p:pic>
      <p:sp>
        <p:nvSpPr>
          <p:cNvPr id="13" name="row head 1"/>
          <p:cNvSpPr txBox="1"/>
          <p:nvPr/>
        </p:nvSpPr>
        <p:spPr>
          <a:xfrm>
            <a:off x="1188720" y="32918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Discovery before code</a:t>
            </a:r>
            <a:endParaRPr lang="en-US" sz="1500" dirty="0"/>
          </a:p>
        </p:txBody>
      </p:sp>
      <p:sp>
        <p:nvSpPr>
          <p:cNvPr id="14" name="row body 1"/>
          <p:cNvSpPr txBox="1"/>
          <p:nvPr/>
        </p:nvSpPr>
        <p:spPr>
          <a:xfrm>
            <a:off x="1188720" y="354787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An AI coach interviews you as the commander, then writes the requirements and the architecture.</a:t>
            </a:r>
            <a:endParaRPr lang="en-US" sz="1200" dirty="0"/>
          </a:p>
        </p:txBody>
      </p:sp>
      <p:sp>
        <p:nvSpPr>
          <p:cNvPr id="15" name="row2 circle"/>
          <p:cNvSpPr/>
          <p:nvPr/>
        </p:nvSpPr>
        <p:spPr>
          <a:xfrm>
            <a:off x="548640" y="3977640"/>
            <a:ext cx="475488" cy="47548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pic>
        <p:nvPicPr>
          <p:cNvPr id="16" name="row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67" y="4101267"/>
            <a:ext cx="228234" cy="228234"/>
          </a:xfrm>
          <a:prstGeom prst="rect">
            <a:avLst/>
          </a:prstGeom>
        </p:spPr>
      </p:pic>
      <p:sp>
        <p:nvSpPr>
          <p:cNvPr id="17" name="row head 2"/>
          <p:cNvSpPr txBox="1"/>
          <p:nvPr/>
        </p:nvSpPr>
        <p:spPr>
          <a:xfrm>
            <a:off x="1188720" y="39776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Then security, ethics, a plan</a:t>
            </a:r>
            <a:endParaRPr lang="en-US" sz="1500" dirty="0"/>
          </a:p>
        </p:txBody>
      </p:sp>
      <p:sp>
        <p:nvSpPr>
          <p:cNvPr id="18" name="row body 2"/>
          <p:cNvSpPr txBox="1"/>
          <p:nvPr/>
        </p:nvSpPr>
        <p:spPr>
          <a:xfrm>
            <a:off x="1188720" y="423367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Three more agents threat-model it, assess the one AI decision in the app, and plan one feature.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Titan Watch command centre</a:t>
            </a:r>
            <a:endParaRPr lang="en-US" sz="3000" dirty="0"/>
          </a:p>
        </p:txBody>
      </p:sp>
      <p:pic>
        <p:nvPicPr>
          <p:cNvPr id="3" name="app screensh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120640" cy="2880360"/>
          </a:xfrm>
          <a:prstGeom prst="rect">
            <a:avLst/>
          </a:prstGeom>
        </p:spPr>
      </p:pic>
      <p:sp>
        <p:nvSpPr>
          <p:cNvPr id="4" name="shot caption"/>
          <p:cNvSpPr txBox="1"/>
          <p:nvPr/>
        </p:nvSpPr>
        <p:spPr>
          <a:xfrm>
            <a:off x="548640" y="4114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Hosted demo, live</a:t>
            </a:r>
            <a:endParaRPr lang="en-US" sz="1000" dirty="0"/>
          </a:p>
        </p:txBody>
      </p:sp>
      <p:sp>
        <p:nvSpPr>
          <p:cNvPr id="5" name="app claim"/>
          <p:cNvSpPr txBox="1"/>
          <p:nvPr/>
        </p:nvSpPr>
        <p:spPr>
          <a:xfrm>
            <a:off x="594360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Looks done. Does nothing.</a:t>
            </a:r>
            <a:endParaRPr lang="en-US" sz="1800" dirty="0"/>
          </a:p>
        </p:txBody>
      </p:sp>
      <p:sp>
        <p:nvSpPr>
          <p:cNvPr id="6" name="app points"/>
          <p:cNvSpPr txBox="1"/>
          <p:nvPr/>
        </p:nvSpPr>
        <p:spPr>
          <a:xfrm>
            <a:off x="5943600" y="173736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Jets you scramble do not fly anywhere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Mechs are a counter with no behaviour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Click a kaiju and the map zooms instead of targeting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Last Stand picks a city to save with a coin flip</a:t>
            </a:r>
            <a:endParaRPr lang="en-US" sz="1200" dirty="0"/>
          </a:p>
        </p:txBody>
      </p:sp>
      <p:sp>
        <p:nvSpPr>
          <p:cNvPr id="7" name="app source"/>
          <p:cNvSpPr txBox="1"/>
          <p:nvPr/>
        </p:nvSpPr>
        <p:spPr>
          <a:xfrm>
            <a:off x="5943600" y="3840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Vite and React, no backend, mocked feeds. MIT licensed.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amiedd.github.io/Apex-Dynamics-Response-Systems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Pick one scenario</a:t>
            </a:r>
            <a:endParaRPr lang="en-US" sz="3000" dirty="0"/>
          </a:p>
        </p:txBody>
      </p:sp>
      <p:sp>
        <p:nvSpPr>
          <p:cNvPr id="3" name="card 1"/>
          <p:cNvSpPr/>
          <p:nvPr/>
        </p:nvSpPr>
        <p:spPr>
          <a:xfrm>
            <a:off x="548640" y="114300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3F7"/>
          </a:solidFill>
          <a:ln w="12700">
            <a:solidFill>
              <a:srgbClr val="F3F3F7"/>
            </a:solidFill>
            <a:prstDash val="solid"/>
          </a:ln>
        </p:spPr>
      </p:sp>
      <p:pic>
        <p:nvPicPr>
          <p:cNvPr id="4" name="monster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52728"/>
            <a:ext cx="621792" cy="621792"/>
          </a:xfrm>
          <a:prstGeom prst="rect">
            <a:avLst/>
          </a:prstGeom>
        </p:spPr>
      </p:pic>
      <p:sp>
        <p:nvSpPr>
          <p:cNvPr id="5" name="scen name 1"/>
          <p:cNvSpPr txBox="1"/>
          <p:nvPr/>
        </p:nvSpPr>
        <p:spPr>
          <a:xfrm>
            <a:off x="1371600" y="13075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Sixty-eight thousand at Lumen Field</a:t>
            </a:r>
            <a:endParaRPr lang="en-US" sz="1400" dirty="0"/>
          </a:p>
        </p:txBody>
      </p:sp>
      <p:sp>
        <p:nvSpPr>
          <p:cNvPr id="6" name="scen meta 1"/>
          <p:cNvSpPr txBox="1"/>
          <p:nvPr/>
        </p:nvSpPr>
        <p:spPr>
          <a:xfrm>
            <a:off x="1371600" y="1600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Gorathos  ·  11 min to the seawall</a:t>
            </a:r>
            <a:endParaRPr lang="en-US" sz="1050" dirty="0"/>
          </a:p>
        </p:txBody>
      </p:sp>
      <p:sp>
        <p:nvSpPr>
          <p:cNvPr id="7" name="scen choice 1"/>
          <p:cNvSpPr txBox="1"/>
          <p:nvPr/>
        </p:nvSpPr>
        <p:spPr>
          <a:xfrm>
            <a:off x="731520" y="194767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Empty a sold-out stadium into streets that face the kaiju, or hold 68,000 people in a building never built to take a hit.</a:t>
            </a:r>
            <a:endParaRPr lang="en-US" sz="1100" dirty="0"/>
          </a:p>
        </p:txBody>
      </p:sp>
      <p:sp>
        <p:nvSpPr>
          <p:cNvPr id="8" name="card 2"/>
          <p:cNvSpPr/>
          <p:nvPr/>
        </p:nvSpPr>
        <p:spPr>
          <a:xfrm>
            <a:off x="4663440" y="114300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3F7"/>
          </a:solidFill>
          <a:ln w="12700">
            <a:solidFill>
              <a:srgbClr val="F3F3F7"/>
            </a:solidFill>
            <a:prstDash val="solid"/>
          </a:ln>
        </p:spPr>
      </p:sp>
      <p:pic>
        <p:nvPicPr>
          <p:cNvPr id="9" name="monster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52728"/>
            <a:ext cx="621792" cy="621792"/>
          </a:xfrm>
          <a:prstGeom prst="rect">
            <a:avLst/>
          </a:prstGeom>
        </p:spPr>
      </p:pic>
      <p:sp>
        <p:nvSpPr>
          <p:cNvPr id="10" name="scen name 2"/>
          <p:cNvSpPr txBox="1"/>
          <p:nvPr/>
        </p:nvSpPr>
        <p:spPr>
          <a:xfrm>
            <a:off x="5486400" y="13075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bridge is floating</a:t>
            </a:r>
            <a:endParaRPr lang="en-US" sz="1400" dirty="0"/>
          </a:p>
        </p:txBody>
      </p:sp>
      <p:sp>
        <p:nvSpPr>
          <p:cNvPr id="11" name="scen meta 2"/>
          <p:cNvSpPr txBox="1"/>
          <p:nvPr/>
        </p:nvSpPr>
        <p:spPr>
          <a:xfrm>
            <a:off x="5486400" y="1600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Terrakon  ·  26 min to the anchor line</a:t>
            </a:r>
            <a:endParaRPr lang="en-US" sz="1050" dirty="0"/>
          </a:p>
        </p:txBody>
      </p:sp>
      <p:sp>
        <p:nvSpPr>
          <p:cNvPr id="12" name="scen choice 2"/>
          <p:cNvSpPr txBox="1"/>
          <p:nvPr/>
        </p:nvSpPr>
        <p:spPr>
          <a:xfrm>
            <a:off x="4846320" y="194767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Clear the I-90 span and strand Mercer Island, or keep it open and gamble 4,000 vehicles on a cable.</a:t>
            </a:r>
            <a:endParaRPr lang="en-US" sz="1100" dirty="0"/>
          </a:p>
        </p:txBody>
      </p:sp>
      <p:sp>
        <p:nvSpPr>
          <p:cNvPr id="13" name="card 3"/>
          <p:cNvSpPr/>
          <p:nvPr/>
        </p:nvSpPr>
        <p:spPr>
          <a:xfrm>
            <a:off x="548640" y="292608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3F7"/>
          </a:solidFill>
          <a:ln w="12700">
            <a:solidFill>
              <a:srgbClr val="F3F3F7"/>
            </a:solidFill>
            <a:prstDash val="solid"/>
          </a:ln>
        </p:spPr>
      </p:sp>
      <p:pic>
        <p:nvPicPr>
          <p:cNvPr id="14" name="monster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35808"/>
            <a:ext cx="621792" cy="621792"/>
          </a:xfrm>
          <a:prstGeom prst="rect">
            <a:avLst/>
          </a:prstGeom>
        </p:spPr>
      </p:pic>
      <p:sp>
        <p:nvSpPr>
          <p:cNvPr id="15" name="scen name 3"/>
          <p:cNvSpPr txBox="1"/>
          <p:nvPr/>
        </p:nvSpPr>
        <p:spPr>
          <a:xfrm>
            <a:off x="1371600" y="30906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Forty aircraft on approach</a:t>
            </a:r>
            <a:endParaRPr lang="en-US" sz="1400" dirty="0"/>
          </a:p>
        </p:txBody>
      </p:sp>
      <p:sp>
        <p:nvSpPr>
          <p:cNvPr id="16" name="scen meta 3"/>
          <p:cNvSpPr txBox="1"/>
          <p:nvPr/>
        </p:nvSpPr>
        <p:spPr>
          <a:xfrm>
            <a:off x="1371600" y="3383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Vespyra  ·  19 min to the outer marker</a:t>
            </a:r>
            <a:endParaRPr lang="en-US" sz="1050" dirty="0"/>
          </a:p>
        </p:txBody>
      </p:sp>
      <p:sp>
        <p:nvSpPr>
          <p:cNvPr id="17" name="scen choice 3"/>
          <p:cNvSpPr txBox="1"/>
          <p:nvPr/>
        </p:nvSpPr>
        <p:spPr>
          <a:xfrm>
            <a:off x="731520" y="373075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Land everything onto runways in its path, or divert forty aircraft with fuel some do not have.</a:t>
            </a:r>
            <a:endParaRPr lang="en-US" sz="1100" dirty="0"/>
          </a:p>
        </p:txBody>
      </p:sp>
      <p:sp>
        <p:nvSpPr>
          <p:cNvPr id="18" name="card 4"/>
          <p:cNvSpPr/>
          <p:nvPr/>
        </p:nvSpPr>
        <p:spPr>
          <a:xfrm>
            <a:off x="4663440" y="292608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3F3F7"/>
          </a:solidFill>
          <a:ln w="12700">
            <a:solidFill>
              <a:srgbClr val="F3F3F7"/>
            </a:solidFill>
            <a:prstDash val="solid"/>
          </a:ln>
        </p:spPr>
      </p:sp>
      <p:pic>
        <p:nvPicPr>
          <p:cNvPr id="19" name="monster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035808"/>
            <a:ext cx="621792" cy="621792"/>
          </a:xfrm>
          <a:prstGeom prst="rect">
            <a:avLst/>
          </a:prstGeom>
        </p:spPr>
      </p:pic>
      <p:sp>
        <p:nvSpPr>
          <p:cNvPr id="20" name="scen name 4"/>
          <p:cNvSpPr txBox="1"/>
          <p:nvPr/>
        </p:nvSpPr>
        <p:spPr>
          <a:xfrm>
            <a:off x="5486400" y="30906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locks</a:t>
            </a:r>
            <a:endParaRPr lang="en-US" sz="1400" dirty="0"/>
          </a:p>
        </p:txBody>
      </p:sp>
      <p:sp>
        <p:nvSpPr>
          <p:cNvPr id="21" name="scen meta 4"/>
          <p:cNvSpPr txBox="1"/>
          <p:nvPr/>
        </p:nvSpPr>
        <p:spPr>
          <a:xfrm>
            <a:off x="5486400" y="3383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Skarnyx  ·  no clock, that is the problem</a:t>
            </a:r>
            <a:endParaRPr lang="en-US" sz="1050" dirty="0"/>
          </a:p>
        </p:txBody>
      </p:sp>
      <p:sp>
        <p:nvSpPr>
          <p:cNvPr id="22" name="scen choice 4"/>
          <p:cNvSpPr txBox="1"/>
          <p:nvPr/>
        </p:nvSpPr>
        <p:spPr>
          <a:xfrm>
            <a:off x="4846320" y="373075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Raise a three-city alert on a sonar log alone, or wait for something to surface and lose the lakes.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You are the incident commander</a:t>
            </a:r>
            <a:endParaRPr lang="en-US" sz="3200" dirty="0"/>
          </a:p>
        </p:txBody>
      </p:sp>
      <p:sp>
        <p:nvSpPr>
          <p:cNvPr id="3" name="role0 circle"/>
          <p:cNvSpPr/>
          <p:nvPr/>
        </p:nvSpPr>
        <p:spPr>
          <a:xfrm>
            <a:off x="548640" y="1325880"/>
            <a:ext cx="548640" cy="548640"/>
          </a:xfrm>
          <a:prstGeom prst="ellipse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pic>
        <p:nvPicPr>
          <p:cNvPr id="4" name="role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1468526"/>
            <a:ext cx="263347" cy="263347"/>
          </a:xfrm>
          <a:prstGeom prst="rect">
            <a:avLst/>
          </a:prstGeom>
        </p:spPr>
      </p:pic>
      <p:sp>
        <p:nvSpPr>
          <p:cNvPr id="5" name="role head 0"/>
          <p:cNvSpPr txBox="1"/>
          <p:nvPr/>
        </p:nvSpPr>
        <p:spPr>
          <a:xfrm>
            <a:off x="1325880" y="13258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Full authority</a:t>
            </a:r>
            <a:endParaRPr lang="en-US" sz="1700" dirty="0"/>
          </a:p>
        </p:txBody>
      </p:sp>
      <p:sp>
        <p:nvSpPr>
          <p:cNvPr id="6" name="role body 0"/>
          <p:cNvSpPr txBox="1"/>
          <p:nvPr/>
        </p:nvSpPr>
        <p:spPr>
          <a:xfrm>
            <a:off x="1325880" y="16184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Airport, police, WSDOT, Titan Watch: they all answer to you. Order anything. Nobody argues.</a:t>
            </a:r>
            <a:endParaRPr lang="en-US" sz="1250" dirty="0"/>
          </a:p>
        </p:txBody>
      </p:sp>
      <p:sp>
        <p:nvSpPr>
          <p:cNvPr id="7" name="role1 circle"/>
          <p:cNvSpPr/>
          <p:nvPr/>
        </p:nvSpPr>
        <p:spPr>
          <a:xfrm>
            <a:off x="548640" y="2148840"/>
            <a:ext cx="548640" cy="548640"/>
          </a:xfrm>
          <a:prstGeom prst="ellipse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pic>
        <p:nvPicPr>
          <p:cNvPr id="8" name="role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2291486"/>
            <a:ext cx="263347" cy="263347"/>
          </a:xfrm>
          <a:prstGeom prst="rect">
            <a:avLst/>
          </a:prstGeom>
        </p:spPr>
      </p:pic>
      <p:sp>
        <p:nvSpPr>
          <p:cNvPr id="9" name="role head 1"/>
          <p:cNvSpPr txBox="1"/>
          <p:nvPr/>
        </p:nvSpPr>
        <p:spPr>
          <a:xfrm>
            <a:off x="1325880" y="21488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Your only screen is the command centre</a:t>
            </a:r>
            <a:endParaRPr lang="en-US" sz="1700" dirty="0"/>
          </a:p>
        </p:txBody>
      </p:sp>
      <p:sp>
        <p:nvSpPr>
          <p:cNvPr id="10" name="role body 1"/>
          <p:cNvSpPr txBox="1"/>
          <p:nvPr/>
        </p:nvSpPr>
        <p:spPr>
          <a:xfrm>
            <a:off x="1325880" y="2441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Everything else reaches you by report, when the specialists report it. Nine of them have already been interviewed.</a:t>
            </a:r>
            <a:endParaRPr lang="en-US" sz="1250" dirty="0"/>
          </a:p>
        </p:txBody>
      </p:sp>
      <p:sp>
        <p:nvSpPr>
          <p:cNvPr id="11" name="role2 circle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pic>
        <p:nvPicPr>
          <p:cNvPr id="12" name="role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3114446"/>
            <a:ext cx="263347" cy="263347"/>
          </a:xfrm>
          <a:prstGeom prst="rect">
            <a:avLst/>
          </a:prstGeom>
        </p:spPr>
      </p:pic>
      <p:sp>
        <p:nvSpPr>
          <p:cNvPr id="13" name="role head 2"/>
          <p:cNvSpPr txBox="1"/>
          <p:nvPr/>
        </p:nvSpPr>
        <p:spPr>
          <a:xfrm>
            <a:off x="1325880" y="29718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Three phrases</a:t>
            </a:r>
            <a:endParaRPr lang="en-US" sz="1700" dirty="0"/>
          </a:p>
        </p:txBody>
      </p:sp>
      <p:sp>
        <p:nvSpPr>
          <p:cNvPr id="14" name="role body 2"/>
          <p:cNvSpPr txBox="1"/>
          <p:nvPr/>
        </p:nvSpPr>
        <p:spPr>
          <a:xfrm>
            <a:off x="1325880" y="32644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"I do not know."   "Assume and label it."   "Ask the specialist, then tell me."</a:t>
            </a:r>
            <a:endParaRPr lang="en-US" sz="1250" dirty="0"/>
          </a:p>
        </p:txBody>
      </p:sp>
      <p:sp>
        <p:nvSpPr>
          <p:cNvPr id="15" name="role3 circle"/>
          <p:cNvSpPr/>
          <p:nvPr/>
        </p:nvSpPr>
        <p:spPr>
          <a:xfrm>
            <a:off x="548640" y="3794760"/>
            <a:ext cx="548640" cy="548640"/>
          </a:xfrm>
          <a:prstGeom prst="ellipse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pic>
        <p:nvPicPr>
          <p:cNvPr id="16" name="role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3937406"/>
            <a:ext cx="263347" cy="263347"/>
          </a:xfrm>
          <a:prstGeom prst="rect">
            <a:avLst/>
          </a:prstGeom>
        </p:spPr>
      </p:pic>
      <p:sp>
        <p:nvSpPr>
          <p:cNvPr id="17" name="role head 3"/>
          <p:cNvSpPr txBox="1"/>
          <p:nvPr/>
        </p:nvSpPr>
        <p:spPr>
          <a:xfrm>
            <a:off x="1325880" y="37947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Graded on</a:t>
            </a:r>
            <a:endParaRPr lang="en-US" sz="1700" dirty="0"/>
          </a:p>
        </p:txBody>
      </p:sp>
      <p:sp>
        <p:nvSpPr>
          <p:cNvPr id="18" name="role body 3"/>
          <p:cNvSpPr txBox="1"/>
          <p:nvPr/>
        </p:nvSpPr>
        <p:spPr>
          <a:xfrm>
            <a:off x="1325880" y="40873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Lives first, then property. And whether every decision was a decision, recorded, with a name on it.</a:t>
            </a:r>
            <a:endParaRPr lang="en-US" sz="1250" dirty="0"/>
          </a:p>
        </p:txBody>
      </p:sp>
      <p:pic>
        <p:nvPicPr>
          <p:cNvPr id="19" name="mascot alarm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234440"/>
            <a:ext cx="2743200" cy="2743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Lab 1  ·  Discovery</a:t>
            </a:r>
            <a:endParaRPr lang="en-US" sz="3000" dirty="0"/>
          </a:p>
        </p:txBody>
      </p:sp>
      <p:sp>
        <p:nvSpPr>
          <p:cNvPr id="3" name="lab command"/>
          <p:cNvSpPr txBox="1"/>
          <p:nvPr/>
        </p:nvSpPr>
        <p:spPr>
          <a:xfrm>
            <a:off x="548640" y="1143000"/>
            <a:ext cx="5120640" cy="640080"/>
          </a:xfrm>
          <a:prstGeom prst="rect">
            <a:avLst/>
          </a:prstGeom>
          <a:solidFill>
            <a:srgbClr val="F3F3F7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   then   /hve-core:dt-coach</a:t>
            </a:r>
            <a:endParaRPr lang="en-US" sz="1400" dirty="0"/>
          </a:p>
        </p:txBody>
      </p:sp>
      <p:sp>
        <p:nvSpPr>
          <p:cNvPr id="4" name="step circle 0"/>
          <p:cNvSpPr/>
          <p:nvPr/>
        </p:nvSpPr>
        <p:spPr>
          <a:xfrm>
            <a:off x="548640" y="1938528"/>
            <a:ext cx="384048" cy="38404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sp>
        <p:nvSpPr>
          <p:cNvPr id="5" name="step num 0"/>
          <p:cNvSpPr txBox="1"/>
          <p:nvPr/>
        </p:nvSpPr>
        <p:spPr>
          <a:xfrm>
            <a:off x="5486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tep head 0"/>
          <p:cNvSpPr txBox="1"/>
          <p:nvPr/>
        </p:nvSpPr>
        <p:spPr>
          <a:xfrm>
            <a:off x="1051560" y="19202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Pick your scenario from the coach's list</a:t>
            </a:r>
            <a:endParaRPr lang="en-US" sz="1400" dirty="0"/>
          </a:p>
        </p:txBody>
      </p:sp>
      <p:sp>
        <p:nvSpPr>
          <p:cNvPr id="7" name="step body 0"/>
          <p:cNvSpPr txBox="1"/>
          <p:nvPr/>
        </p:nvSpPr>
        <p:spPr>
          <a:xfrm>
            <a:off x="1051560" y="216712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Say: I am the incident commander. Start the interview.</a:t>
            </a:r>
            <a:endParaRPr lang="en-US" sz="1100" dirty="0"/>
          </a:p>
        </p:txBody>
      </p:sp>
      <p:sp>
        <p:nvSpPr>
          <p:cNvPr id="8" name="step circle 1"/>
          <p:cNvSpPr/>
          <p:nvPr/>
        </p:nvSpPr>
        <p:spPr>
          <a:xfrm>
            <a:off x="548640" y="2578608"/>
            <a:ext cx="384048" cy="38404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sp>
        <p:nvSpPr>
          <p:cNvPr id="9" name="step num 1"/>
          <p:cNvSpPr txBox="1"/>
          <p:nvPr/>
        </p:nvSpPr>
        <p:spPr>
          <a:xfrm>
            <a:off x="54864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tep head 1"/>
          <p:cNvSpPr txBox="1"/>
          <p:nvPr/>
        </p:nvSpPr>
        <p:spPr>
          <a:xfrm>
            <a:off x="1051560" y="256032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Answer five questions as the commander</a:t>
            </a:r>
            <a:endParaRPr lang="en-US" sz="1400" dirty="0"/>
          </a:p>
        </p:txBody>
      </p:sp>
      <p:sp>
        <p:nvSpPr>
          <p:cNvPr id="11" name="step body 1"/>
          <p:cNvSpPr txBox="1"/>
          <p:nvPr/>
        </p:nvSpPr>
        <p:spPr>
          <a:xfrm>
            <a:off x="1051560" y="280720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From what the specialists reported. "I do not know" and "assume and label it" are good answers.</a:t>
            </a:r>
            <a:endParaRPr lang="en-US" sz="1100" dirty="0"/>
          </a:p>
        </p:txBody>
      </p:sp>
      <p:sp>
        <p:nvSpPr>
          <p:cNvPr id="12" name="step circle 2"/>
          <p:cNvSpPr/>
          <p:nvPr/>
        </p:nvSpPr>
        <p:spPr>
          <a:xfrm>
            <a:off x="548640" y="3218688"/>
            <a:ext cx="384048" cy="38404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sp>
        <p:nvSpPr>
          <p:cNvPr id="13" name="step num 2"/>
          <p:cNvSpPr txBox="1"/>
          <p:nvPr/>
        </p:nvSpPr>
        <p:spPr>
          <a:xfrm>
            <a:off x="54864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step head 2"/>
          <p:cNvSpPr txBox="1"/>
          <p:nvPr/>
        </p:nvSpPr>
        <p:spPr>
          <a:xfrm>
            <a:off x="1051560" y="320040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Paste run sheet step 3</a:t>
            </a:r>
            <a:endParaRPr lang="en-US" sz="1400" dirty="0"/>
          </a:p>
        </p:txBody>
      </p:sp>
      <p:sp>
        <p:nvSpPr>
          <p:cNvPr id="15" name="step body 2"/>
          <p:cNvSpPr txBox="1"/>
          <p:nvPr/>
        </p:nvSpPr>
        <p:spPr>
          <a:xfrm>
            <a:off x="1051560" y="344728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The coach restates the outcome, synthesises, writes a PRD, a diagram and an Azure overlay. 10 to 15 minutes, hands off.</a:t>
            </a:r>
            <a:endParaRPr lang="en-US" sz="1100" dirty="0"/>
          </a:p>
        </p:txBody>
      </p:sp>
      <p:sp>
        <p:nvSpPr>
          <p:cNvPr id="16" name="step circle 3"/>
          <p:cNvSpPr/>
          <p:nvPr/>
        </p:nvSpPr>
        <p:spPr>
          <a:xfrm>
            <a:off x="548640" y="3858768"/>
            <a:ext cx="384048" cy="38404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sp>
        <p:nvSpPr>
          <p:cNvPr id="17" name="step num 3"/>
          <p:cNvSpPr txBox="1"/>
          <p:nvPr/>
        </p:nvSpPr>
        <p:spPr>
          <a:xfrm>
            <a:off x="54864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step head 3"/>
          <p:cNvSpPr txBox="1"/>
          <p:nvPr/>
        </p:nvSpPr>
        <p:spPr>
          <a:xfrm>
            <a:off x="1051560" y="384048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Write down one question you did not expect</a:t>
            </a:r>
            <a:endParaRPr lang="en-US" sz="1400" dirty="0"/>
          </a:p>
        </p:txBody>
      </p:sp>
      <p:sp>
        <p:nvSpPr>
          <p:cNvPr id="19" name="step body 3"/>
          <p:cNvSpPr txBox="1"/>
          <p:nvPr/>
        </p:nvSpPr>
        <p:spPr>
          <a:xfrm>
            <a:off x="1051560" y="408736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That is your show-and-tell item.</a:t>
            </a:r>
            <a:endParaRPr lang="en-US" sz="1100" dirty="0"/>
          </a:p>
        </p:txBody>
      </p:sp>
      <p:sp>
        <p:nvSpPr>
          <p:cNvPr id="20" name="side card"/>
          <p:cNvSpPr/>
          <p:nvPr/>
        </p:nvSpPr>
        <p:spPr>
          <a:xfrm>
            <a:off x="5943600" y="1143000"/>
            <a:ext cx="2651760" cy="3337560"/>
          </a:xfrm>
          <a:prstGeom prst="roundRect">
            <a:avLst>
              <a:gd name="adj" fmla="val 2759"/>
            </a:avLst>
          </a:prstGeom>
          <a:solidFill>
            <a:srgbClr val="F3F3F7"/>
          </a:solidFill>
          <a:ln w="12700">
            <a:solidFill>
              <a:srgbClr val="F3F3F7"/>
            </a:solidFill>
            <a:prstDash val="solid"/>
          </a:ln>
        </p:spPr>
      </p:sp>
      <p:sp>
        <p:nvSpPr>
          <p:cNvPr id="21" name="done circle"/>
          <p:cNvSpPr/>
          <p:nvPr/>
        </p:nvSpPr>
        <p:spPr>
          <a:xfrm>
            <a:off x="6126480" y="132588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22" name="do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352" y="1444752"/>
            <a:ext cx="219456" cy="219456"/>
          </a:xfrm>
          <a:prstGeom prst="rect">
            <a:avLst/>
          </a:prstGeom>
        </p:spPr>
      </p:pic>
      <p:sp>
        <p:nvSpPr>
          <p:cNvPr id="23" name="lab minutes"/>
          <p:cNvSpPr txBox="1"/>
          <p:nvPr/>
        </p:nvSpPr>
        <p:spPr>
          <a:xfrm>
            <a:off x="7680960" y="1417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25 min</a:t>
            </a:r>
            <a:endParaRPr lang="en-US" sz="1200" dirty="0"/>
          </a:p>
        </p:txBody>
      </p:sp>
      <p:sp>
        <p:nvSpPr>
          <p:cNvPr id="24" name="done head"/>
          <p:cNvSpPr txBox="1"/>
          <p:nvPr/>
        </p:nvSpPr>
        <p:spPr>
          <a:xfrm>
            <a:off x="6675120" y="1371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Done when</a:t>
            </a:r>
            <a:endParaRPr lang="en-US" sz="1400" dirty="0"/>
          </a:p>
        </p:txBody>
      </p:sp>
      <p:sp>
        <p:nvSpPr>
          <p:cNvPr id="25" name="done body"/>
          <p:cNvSpPr txBox="1"/>
          <p:nvPr/>
        </p:nvSpPr>
        <p:spPr>
          <a:xfrm>
            <a:off x="6126480" y="18745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PRD, diagram and Azure overlay exist in your scenario folder under .copilot-tracking/dt/.</a:t>
            </a:r>
            <a:endParaRPr lang="en-US" sz="1150" dirty="0"/>
          </a:p>
        </p:txBody>
      </p:sp>
      <p:sp>
        <p:nvSpPr>
          <p:cNvPr id="26" name="extra head"/>
          <p:cNvSpPr txBox="1"/>
          <p:nvPr/>
        </p:nvSpPr>
        <p:spPr>
          <a:xfrm>
            <a:off x="612648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Rules</a:t>
            </a:r>
            <a:endParaRPr lang="en-US" sz="1200" dirty="0"/>
          </a:p>
        </p:txBody>
      </p:sp>
      <p:sp>
        <p:nvSpPr>
          <p:cNvPr id="27" name="extra body"/>
          <p:cNvSpPr txBox="1"/>
          <p:nvPr/>
        </p:nvSpPr>
        <p:spPr>
          <a:xfrm>
            <a:off x="6126480" y="324612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Approve every prompt by hand. Never auto-approve. Decline the canonical deck. No commits, no pushes.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Lab 2  ·  Security and Responsible AI</a:t>
            </a:r>
            <a:endParaRPr lang="en-US" sz="3000" dirty="0"/>
          </a:p>
        </p:txBody>
      </p:sp>
      <p:sp>
        <p:nvSpPr>
          <p:cNvPr id="3" name="lab command"/>
          <p:cNvSpPr txBox="1"/>
          <p:nvPr/>
        </p:nvSpPr>
        <p:spPr>
          <a:xfrm>
            <a:off x="548640" y="1143000"/>
            <a:ext cx="5120640" cy="640080"/>
          </a:xfrm>
          <a:prstGeom prst="rect">
            <a:avLst/>
          </a:prstGeom>
          <a:solidFill>
            <a:srgbClr val="F3F3F7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/hve-core:security-planner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/hve-core:rai-planner-agent</a:t>
            </a:r>
            <a:endParaRPr lang="en-US" sz="1400" dirty="0"/>
          </a:p>
        </p:txBody>
      </p:sp>
      <p:sp>
        <p:nvSpPr>
          <p:cNvPr id="4" name="step circle 0"/>
          <p:cNvSpPr/>
          <p:nvPr/>
        </p:nvSpPr>
        <p:spPr>
          <a:xfrm>
            <a:off x="548640" y="1938528"/>
            <a:ext cx="384048" cy="38404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sp>
        <p:nvSpPr>
          <p:cNvPr id="5" name="step num 0"/>
          <p:cNvSpPr txBox="1"/>
          <p:nvPr/>
        </p:nvSpPr>
        <p:spPr>
          <a:xfrm>
            <a:off x="5486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tep head 0"/>
          <p:cNvSpPr txBox="1"/>
          <p:nvPr/>
        </p:nvSpPr>
        <p:spPr>
          <a:xfrm>
            <a:off x="1051560" y="19202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Write three findings you predict. Paper.</a:t>
            </a:r>
            <a:endParaRPr lang="en-US" sz="1400" dirty="0"/>
          </a:p>
        </p:txBody>
      </p:sp>
      <p:sp>
        <p:nvSpPr>
          <p:cNvPr id="7" name="step body 0"/>
          <p:cNvSpPr txBox="1"/>
          <p:nvPr/>
        </p:nvSpPr>
        <p:spPr>
          <a:xfrm>
            <a:off x="1051560" y="216712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Before anyone types.</a:t>
            </a:r>
            <a:endParaRPr lang="en-US" sz="1100" dirty="0"/>
          </a:p>
        </p:txBody>
      </p:sp>
      <p:sp>
        <p:nvSpPr>
          <p:cNvPr id="8" name="step circle 1"/>
          <p:cNvSpPr/>
          <p:nvPr/>
        </p:nvSpPr>
        <p:spPr>
          <a:xfrm>
            <a:off x="548640" y="2578608"/>
            <a:ext cx="384048" cy="38404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sp>
        <p:nvSpPr>
          <p:cNvPr id="9" name="step num 1"/>
          <p:cNvSpPr txBox="1"/>
          <p:nvPr/>
        </p:nvSpPr>
        <p:spPr>
          <a:xfrm>
            <a:off x="54864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tep head 1"/>
          <p:cNvSpPr txBox="1"/>
          <p:nvPr/>
        </p:nvSpPr>
        <p:spPr>
          <a:xfrm>
            <a:off x="1051560" y="256032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Two Claude Code windows, side by side</a:t>
            </a:r>
            <a:endParaRPr lang="en-US" sz="1400" dirty="0"/>
          </a:p>
        </p:txBody>
      </p:sp>
      <p:sp>
        <p:nvSpPr>
          <p:cNvPr id="11" name="step body 1"/>
          <p:cNvSpPr txBox="1"/>
          <p:nvPr/>
        </p:nvSpPr>
        <p:spPr>
          <a:xfrm>
            <a:off x="1051560" y="280720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Security in one, RAI in the other. Run sheet steps 5 and 6. They never read each other.</a:t>
            </a:r>
            <a:endParaRPr lang="en-US" sz="1100" dirty="0"/>
          </a:p>
        </p:txBody>
      </p:sp>
      <p:sp>
        <p:nvSpPr>
          <p:cNvPr id="12" name="step circle 2"/>
          <p:cNvSpPr/>
          <p:nvPr/>
        </p:nvSpPr>
        <p:spPr>
          <a:xfrm>
            <a:off x="548640" y="3218688"/>
            <a:ext cx="384048" cy="38404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sp>
        <p:nvSpPr>
          <p:cNvPr id="13" name="step num 2"/>
          <p:cNvSpPr txBox="1"/>
          <p:nvPr/>
        </p:nvSpPr>
        <p:spPr>
          <a:xfrm>
            <a:off x="54864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step head 2"/>
          <p:cNvSpPr txBox="1"/>
          <p:nvPr/>
        </p:nvSpPr>
        <p:spPr>
          <a:xfrm>
            <a:off x="1051560" y="320040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Security planner runs six phases</a:t>
            </a:r>
            <a:endParaRPr lang="en-US" sz="1400" dirty="0"/>
          </a:p>
        </p:txBody>
      </p:sp>
      <p:sp>
        <p:nvSpPr>
          <p:cNvPr id="15" name="step body 2"/>
          <p:cNvSpPr txBox="1"/>
          <p:nvPr/>
        </p:nvSpPr>
        <p:spPr>
          <a:xfrm>
            <a:off x="1051560" y="344728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10 to 20 minutes. Approve prompts. Never "assume I confirm everything".</a:t>
            </a:r>
            <a:endParaRPr lang="en-US" sz="1100" dirty="0"/>
          </a:p>
        </p:txBody>
      </p:sp>
      <p:sp>
        <p:nvSpPr>
          <p:cNvPr id="16" name="step circle 3"/>
          <p:cNvSpPr/>
          <p:nvPr/>
        </p:nvSpPr>
        <p:spPr>
          <a:xfrm>
            <a:off x="548640" y="3858768"/>
            <a:ext cx="384048" cy="38404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sp>
        <p:nvSpPr>
          <p:cNvPr id="17" name="step num 3"/>
          <p:cNvSpPr txBox="1"/>
          <p:nvPr/>
        </p:nvSpPr>
        <p:spPr>
          <a:xfrm>
            <a:off x="54864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step head 3"/>
          <p:cNvSpPr txBox="1"/>
          <p:nvPr/>
        </p:nvSpPr>
        <p:spPr>
          <a:xfrm>
            <a:off x="1051560" y="384048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RAI planner assesses the Last Stand coin flip</a:t>
            </a:r>
            <a:endParaRPr lang="en-US" sz="1400" dirty="0"/>
          </a:p>
        </p:txBody>
      </p:sp>
      <p:sp>
        <p:nvSpPr>
          <p:cNvPr id="19" name="step body 3"/>
          <p:cNvSpPr txBox="1"/>
          <p:nvPr/>
        </p:nvSpPr>
        <p:spPr>
          <a:xfrm>
            <a:off x="1051560" y="408736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Read its two opening observations before you reply. Do not argue the risk down.</a:t>
            </a:r>
            <a:endParaRPr lang="en-US" sz="1100" dirty="0"/>
          </a:p>
        </p:txBody>
      </p:sp>
      <p:sp>
        <p:nvSpPr>
          <p:cNvPr id="20" name="side card"/>
          <p:cNvSpPr/>
          <p:nvPr/>
        </p:nvSpPr>
        <p:spPr>
          <a:xfrm>
            <a:off x="5943600" y="1143000"/>
            <a:ext cx="2651760" cy="3337560"/>
          </a:xfrm>
          <a:prstGeom prst="roundRect">
            <a:avLst>
              <a:gd name="adj" fmla="val 2759"/>
            </a:avLst>
          </a:prstGeom>
          <a:solidFill>
            <a:srgbClr val="F3F3F7"/>
          </a:solidFill>
          <a:ln w="12700">
            <a:solidFill>
              <a:srgbClr val="F3F3F7"/>
            </a:solidFill>
            <a:prstDash val="solid"/>
          </a:ln>
        </p:spPr>
      </p:sp>
      <p:sp>
        <p:nvSpPr>
          <p:cNvPr id="21" name="done circle"/>
          <p:cNvSpPr/>
          <p:nvPr/>
        </p:nvSpPr>
        <p:spPr>
          <a:xfrm>
            <a:off x="6126480" y="132588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22" name="do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352" y="1444752"/>
            <a:ext cx="219456" cy="219456"/>
          </a:xfrm>
          <a:prstGeom prst="rect">
            <a:avLst/>
          </a:prstGeom>
        </p:spPr>
      </p:pic>
      <p:sp>
        <p:nvSpPr>
          <p:cNvPr id="23" name="lab minutes"/>
          <p:cNvSpPr txBox="1"/>
          <p:nvPr/>
        </p:nvSpPr>
        <p:spPr>
          <a:xfrm>
            <a:off x="7680960" y="1417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20 min</a:t>
            </a:r>
            <a:endParaRPr lang="en-US" sz="1200" dirty="0"/>
          </a:p>
        </p:txBody>
      </p:sp>
      <p:sp>
        <p:nvSpPr>
          <p:cNvPr id="24" name="done head"/>
          <p:cNvSpPr txBox="1"/>
          <p:nvPr/>
        </p:nvSpPr>
        <p:spPr>
          <a:xfrm>
            <a:off x="6675120" y="1371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Done when</a:t>
            </a:r>
            <a:endParaRPr lang="en-US" sz="1400" dirty="0"/>
          </a:p>
        </p:txBody>
      </p:sp>
      <p:sp>
        <p:nvSpPr>
          <p:cNvPr id="25" name="done body"/>
          <p:cNvSpPr txBox="1"/>
          <p:nvPr/>
        </p:nvSpPr>
        <p:spPr>
          <a:xfrm>
            <a:off x="6126480" y="18745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Severity summary from the security planner compared with your paper. Go or no-go from the RAI planner.</a:t>
            </a:r>
            <a:endParaRPr lang="en-US" sz="1150" dirty="0"/>
          </a:p>
        </p:txBody>
      </p:sp>
      <p:sp>
        <p:nvSpPr>
          <p:cNvPr id="26" name="extra head"/>
          <p:cNvSpPr txBox="1"/>
          <p:nvPr/>
        </p:nvSpPr>
        <p:spPr>
          <a:xfrm>
            <a:off x="612648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Watch for</a:t>
            </a:r>
            <a:endParaRPr lang="en-US" sz="1200" dirty="0"/>
          </a:p>
        </p:txBody>
      </p:sp>
      <p:sp>
        <p:nvSpPr>
          <p:cNvPr id="27" name="extra body"/>
          <p:cNvSpPr txBox="1"/>
          <p:nvPr/>
        </p:nvSpPr>
        <p:spPr>
          <a:xfrm>
            <a:off x="6126480" y="324612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Prompts arrive from both windows. Approve the right one. One screen? Run security first, then RAI.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Lab 3  ·  Research, Plan, Implement</a:t>
            </a:r>
            <a:endParaRPr lang="en-US" sz="3000" dirty="0"/>
          </a:p>
        </p:txBody>
      </p:sp>
      <p:sp>
        <p:nvSpPr>
          <p:cNvPr id="3" name="lab command"/>
          <p:cNvSpPr txBox="1"/>
          <p:nvPr/>
        </p:nvSpPr>
        <p:spPr>
          <a:xfrm>
            <a:off x="548640" y="1143000"/>
            <a:ext cx="5120640" cy="640080"/>
          </a:xfrm>
          <a:prstGeom prst="rect">
            <a:avLst/>
          </a:prstGeom>
          <a:solidFill>
            <a:srgbClr val="F3F3F7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   then   /hve-core:rpi-agent</a:t>
            </a:r>
            <a:endParaRPr lang="en-US" sz="1400" dirty="0"/>
          </a:p>
        </p:txBody>
      </p:sp>
      <p:sp>
        <p:nvSpPr>
          <p:cNvPr id="4" name="step circle 0"/>
          <p:cNvSpPr/>
          <p:nvPr/>
        </p:nvSpPr>
        <p:spPr>
          <a:xfrm>
            <a:off x="548640" y="1938528"/>
            <a:ext cx="384048" cy="38404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sp>
        <p:nvSpPr>
          <p:cNvPr id="5" name="step num 0"/>
          <p:cNvSpPr txBox="1"/>
          <p:nvPr/>
        </p:nvSpPr>
        <p:spPr>
          <a:xfrm>
            <a:off x="5486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tep head 0"/>
          <p:cNvSpPr txBox="1"/>
          <p:nvPr/>
        </p:nvSpPr>
        <p:spPr>
          <a:xfrm>
            <a:off x="1051560" y="19202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Pick one requirement from your PRD</a:t>
            </a:r>
            <a:endParaRPr lang="en-US" sz="1400" dirty="0"/>
          </a:p>
        </p:txBody>
      </p:sp>
      <p:sp>
        <p:nvSpPr>
          <p:cNvPr id="7" name="step body 0"/>
          <p:cNvSpPr txBox="1"/>
          <p:nvPr/>
        </p:nvSpPr>
        <p:spPr>
          <a:xfrm>
            <a:off x="1051560" y="216712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One screen, one rule, one feed. Not the whole PRD.</a:t>
            </a:r>
            <a:endParaRPr lang="en-US" sz="1100" dirty="0"/>
          </a:p>
        </p:txBody>
      </p:sp>
      <p:sp>
        <p:nvSpPr>
          <p:cNvPr id="8" name="step circle 1"/>
          <p:cNvSpPr/>
          <p:nvPr/>
        </p:nvSpPr>
        <p:spPr>
          <a:xfrm>
            <a:off x="548640" y="2578608"/>
            <a:ext cx="384048" cy="38404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sp>
        <p:nvSpPr>
          <p:cNvPr id="9" name="step num 1"/>
          <p:cNvSpPr txBox="1"/>
          <p:nvPr/>
        </p:nvSpPr>
        <p:spPr>
          <a:xfrm>
            <a:off x="54864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tep head 1"/>
          <p:cNvSpPr txBox="1"/>
          <p:nvPr/>
        </p:nvSpPr>
        <p:spPr>
          <a:xfrm>
            <a:off x="1051560" y="256032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Ask: what do you need to create an RPI plan?</a:t>
            </a:r>
            <a:endParaRPr lang="en-US" sz="1400" dirty="0"/>
          </a:p>
        </p:txBody>
      </p:sp>
      <p:sp>
        <p:nvSpPr>
          <p:cNvPr id="11" name="step body 1"/>
          <p:cNvSpPr txBox="1"/>
          <p:nvPr/>
        </p:nvSpPr>
        <p:spPr>
          <a:xfrm>
            <a:off x="1051560" y="280720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It lists six things. Paste run sheet step 9 with your six answers.</a:t>
            </a:r>
            <a:endParaRPr lang="en-US" sz="1100" dirty="0"/>
          </a:p>
        </p:txBody>
      </p:sp>
      <p:sp>
        <p:nvSpPr>
          <p:cNvPr id="12" name="step circle 2"/>
          <p:cNvSpPr/>
          <p:nvPr/>
        </p:nvSpPr>
        <p:spPr>
          <a:xfrm>
            <a:off x="548640" y="3218688"/>
            <a:ext cx="384048" cy="38404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sp>
        <p:nvSpPr>
          <p:cNvPr id="13" name="step num 2"/>
          <p:cNvSpPr txBox="1"/>
          <p:nvPr/>
        </p:nvSpPr>
        <p:spPr>
          <a:xfrm>
            <a:off x="54864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step head 2"/>
          <p:cNvSpPr txBox="1"/>
          <p:nvPr/>
        </p:nvSpPr>
        <p:spPr>
          <a:xfrm>
            <a:off x="1051560" y="320040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Research stops. Read it, fix the file, then /hve-core:rpi-plan</a:t>
            </a:r>
            <a:endParaRPr lang="en-US" sz="1400" dirty="0"/>
          </a:p>
        </p:txBody>
      </p:sp>
      <p:sp>
        <p:nvSpPr>
          <p:cNvPr id="15" name="step body 2"/>
          <p:cNvSpPr txBox="1"/>
          <p:nvPr/>
        </p:nvSpPr>
        <p:spPr>
          <a:xfrm>
            <a:off x="1051560" y="344728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Correct the artifact, not the chat.</a:t>
            </a:r>
            <a:endParaRPr lang="en-US" sz="1100" dirty="0"/>
          </a:p>
        </p:txBody>
      </p:sp>
      <p:sp>
        <p:nvSpPr>
          <p:cNvPr id="16" name="step circle 3"/>
          <p:cNvSpPr/>
          <p:nvPr/>
        </p:nvSpPr>
        <p:spPr>
          <a:xfrm>
            <a:off x="548640" y="3858768"/>
            <a:ext cx="384048" cy="384048"/>
          </a:xfrm>
          <a:prstGeom prst="ellipse">
            <a:avLst/>
          </a:prstGeom>
          <a:solidFill>
            <a:srgbClr val="3B3F8C"/>
          </a:solidFill>
          <a:ln w="12700">
            <a:solidFill>
              <a:srgbClr val="3B3F8C"/>
            </a:solidFill>
            <a:prstDash val="solid"/>
          </a:ln>
        </p:spPr>
      </p:sp>
      <p:sp>
        <p:nvSpPr>
          <p:cNvPr id="17" name="step num 3"/>
          <p:cNvSpPr txBox="1"/>
          <p:nvPr/>
        </p:nvSpPr>
        <p:spPr>
          <a:xfrm>
            <a:off x="54864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step head 3"/>
          <p:cNvSpPr txBox="1"/>
          <p:nvPr/>
        </p:nvSpPr>
        <p:spPr>
          <a:xfrm>
            <a:off x="1051560" y="384048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Plan stops with a critique. Amend one item in the file</a:t>
            </a:r>
            <a:endParaRPr lang="en-US" sz="1400" dirty="0"/>
          </a:p>
        </p:txBody>
      </p:sp>
      <p:sp>
        <p:nvSpPr>
          <p:cNvPr id="19" name="step body 3"/>
          <p:cNvSpPr txBox="1"/>
          <p:nvPr/>
        </p:nvSpPr>
        <p:spPr>
          <a:xfrm>
            <a:off x="1051560" y="408736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 status, a requirement, a test case. Then: plan amended in the file.</a:t>
            </a:r>
            <a:endParaRPr lang="en-US" sz="1100" dirty="0"/>
          </a:p>
        </p:txBody>
      </p:sp>
      <p:sp>
        <p:nvSpPr>
          <p:cNvPr id="20" name="side card"/>
          <p:cNvSpPr/>
          <p:nvPr/>
        </p:nvSpPr>
        <p:spPr>
          <a:xfrm>
            <a:off x="5943600" y="1143000"/>
            <a:ext cx="2651760" cy="3337560"/>
          </a:xfrm>
          <a:prstGeom prst="roundRect">
            <a:avLst>
              <a:gd name="adj" fmla="val 2759"/>
            </a:avLst>
          </a:prstGeom>
          <a:solidFill>
            <a:srgbClr val="F3F3F7"/>
          </a:solidFill>
          <a:ln w="12700">
            <a:solidFill>
              <a:srgbClr val="F3F3F7"/>
            </a:solidFill>
            <a:prstDash val="solid"/>
          </a:ln>
        </p:spPr>
      </p:sp>
      <p:sp>
        <p:nvSpPr>
          <p:cNvPr id="21" name="done circle"/>
          <p:cNvSpPr/>
          <p:nvPr/>
        </p:nvSpPr>
        <p:spPr>
          <a:xfrm>
            <a:off x="6126480" y="132588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22" name="do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352" y="1444752"/>
            <a:ext cx="219456" cy="219456"/>
          </a:xfrm>
          <a:prstGeom prst="rect">
            <a:avLst/>
          </a:prstGeom>
        </p:spPr>
      </p:pic>
      <p:sp>
        <p:nvSpPr>
          <p:cNvPr id="23" name="lab minutes"/>
          <p:cNvSpPr txBox="1"/>
          <p:nvPr/>
        </p:nvSpPr>
        <p:spPr>
          <a:xfrm>
            <a:off x="7680960" y="1417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25 min</a:t>
            </a:r>
            <a:endParaRPr lang="en-US" sz="1200" dirty="0"/>
          </a:p>
        </p:txBody>
      </p:sp>
      <p:sp>
        <p:nvSpPr>
          <p:cNvPr id="24" name="done head"/>
          <p:cNvSpPr txBox="1"/>
          <p:nvPr/>
        </p:nvSpPr>
        <p:spPr>
          <a:xfrm>
            <a:off x="6675120" y="1371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Done when</a:t>
            </a:r>
            <a:endParaRPr lang="en-US" sz="1400" dirty="0"/>
          </a:p>
        </p:txBody>
      </p:sp>
      <p:sp>
        <p:nvSpPr>
          <p:cNvPr id="25" name="done body"/>
          <p:cNvSpPr txBox="1"/>
          <p:nvPr/>
        </p:nvSpPr>
        <p:spPr>
          <a:xfrm>
            <a:off x="6126480" y="18745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Research and plan exist. The plan carries your amendment. The critique has run.</a:t>
            </a:r>
            <a:endParaRPr lang="en-US" sz="1150" dirty="0"/>
          </a:p>
        </p:txBody>
      </p:sp>
      <p:sp>
        <p:nvSpPr>
          <p:cNvPr id="26" name="extra head"/>
          <p:cNvSpPr txBox="1"/>
          <p:nvPr/>
        </p:nvSpPr>
        <p:spPr>
          <a:xfrm>
            <a:off x="612648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Homework</a:t>
            </a:r>
            <a:endParaRPr lang="en-US" sz="1200" dirty="0"/>
          </a:p>
        </p:txBody>
      </p:sp>
      <p:sp>
        <p:nvSpPr>
          <p:cNvPr id="27" name="extra body"/>
          <p:cNvSpPr txBox="1"/>
          <p:nvPr/>
        </p:nvSpPr>
        <p:spPr>
          <a:xfrm>
            <a:off x="6126480" y="324612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/hve-core:rpi-implement then /hve-core:rpi-review. Bring the verdict. Complete is not accepted; the review says what is missing.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Show-and-tell</a:t>
            </a:r>
            <a:endParaRPr lang="en-US" sz="3200" dirty="0"/>
          </a:p>
        </p:txBody>
      </p:sp>
      <p:sp>
        <p:nvSpPr>
          <p:cNvPr id="3" name="close intro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Three minutes per scenario, one presenter. Four items, one sentence each.</a:t>
            </a:r>
            <a:endParaRPr lang="en-US" sz="1400" dirty="0"/>
          </a:p>
        </p:txBody>
      </p:sp>
      <p:sp>
        <p:nvSpPr>
          <p:cNvPr id="4" name="close card 0"/>
          <p:cNvSpPr/>
          <p:nvPr/>
        </p:nvSpPr>
        <p:spPr>
          <a:xfrm>
            <a:off x="548640" y="178308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2E3466"/>
          </a:solidFill>
          <a:ln w="12700">
            <a:solidFill>
              <a:srgbClr val="2E3466"/>
            </a:solidFill>
            <a:prstDash val="solid"/>
          </a:ln>
        </p:spPr>
      </p:sp>
      <p:sp>
        <p:nvSpPr>
          <p:cNvPr id="5" name="close0 circle"/>
          <p:cNvSpPr/>
          <p:nvPr/>
        </p:nvSpPr>
        <p:spPr>
          <a:xfrm>
            <a:off x="731520" y="2039112"/>
            <a:ext cx="548640" cy="548640"/>
          </a:xfrm>
          <a:prstGeom prst="ellipse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pic>
        <p:nvPicPr>
          <p:cNvPr id="6" name="close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2181758"/>
            <a:ext cx="263347" cy="263347"/>
          </a:xfrm>
          <a:prstGeom prst="rect">
            <a:avLst/>
          </a:prstGeom>
        </p:spPr>
      </p:pic>
      <p:sp>
        <p:nvSpPr>
          <p:cNvPr id="7" name="close text 0"/>
          <p:cNvSpPr txBox="1"/>
          <p:nvPr/>
        </p:nvSpPr>
        <p:spPr>
          <a:xfrm>
            <a:off x="1463040" y="1965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One coach question you did not expect</a:t>
            </a:r>
            <a:endParaRPr lang="en-US" sz="1500" dirty="0"/>
          </a:p>
        </p:txBody>
      </p:sp>
      <p:sp>
        <p:nvSpPr>
          <p:cNvPr id="8" name="close card 1"/>
          <p:cNvSpPr/>
          <p:nvPr/>
        </p:nvSpPr>
        <p:spPr>
          <a:xfrm>
            <a:off x="4663440" y="178308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2E3466"/>
          </a:solidFill>
          <a:ln w="12700">
            <a:solidFill>
              <a:srgbClr val="2E3466"/>
            </a:solidFill>
            <a:prstDash val="solid"/>
          </a:ln>
        </p:spPr>
      </p:sp>
      <p:sp>
        <p:nvSpPr>
          <p:cNvPr id="9" name="close1 circle"/>
          <p:cNvSpPr/>
          <p:nvPr/>
        </p:nvSpPr>
        <p:spPr>
          <a:xfrm>
            <a:off x="4846320" y="2039112"/>
            <a:ext cx="548640" cy="548640"/>
          </a:xfrm>
          <a:prstGeom prst="ellipse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pic>
        <p:nvPicPr>
          <p:cNvPr id="10" name="close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966" y="2181758"/>
            <a:ext cx="263347" cy="263347"/>
          </a:xfrm>
          <a:prstGeom prst="rect">
            <a:avLst/>
          </a:prstGeom>
        </p:spPr>
      </p:pic>
      <p:sp>
        <p:nvSpPr>
          <p:cNvPr id="11" name="close text 1"/>
          <p:cNvSpPr txBox="1"/>
          <p:nvPr/>
        </p:nvSpPr>
        <p:spPr>
          <a:xfrm>
            <a:off x="5577840" y="1965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One Critical threat you did not predict</a:t>
            </a:r>
            <a:endParaRPr lang="en-US" sz="1500" dirty="0"/>
          </a:p>
        </p:txBody>
      </p:sp>
      <p:sp>
        <p:nvSpPr>
          <p:cNvPr id="12" name="close card 2"/>
          <p:cNvSpPr/>
          <p:nvPr/>
        </p:nvSpPr>
        <p:spPr>
          <a:xfrm>
            <a:off x="548640" y="301752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2E3466"/>
          </a:solidFill>
          <a:ln w="12700">
            <a:solidFill>
              <a:srgbClr val="2E3466"/>
            </a:solidFill>
            <a:prstDash val="solid"/>
          </a:ln>
        </p:spPr>
      </p:sp>
      <p:sp>
        <p:nvSpPr>
          <p:cNvPr id="13" name="close2 circle"/>
          <p:cNvSpPr/>
          <p:nvPr/>
        </p:nvSpPr>
        <p:spPr>
          <a:xfrm>
            <a:off x="731520" y="3273552"/>
            <a:ext cx="548640" cy="548640"/>
          </a:xfrm>
          <a:prstGeom prst="ellipse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pic>
        <p:nvPicPr>
          <p:cNvPr id="14" name="close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3416198"/>
            <a:ext cx="263347" cy="263347"/>
          </a:xfrm>
          <a:prstGeom prst="rect">
            <a:avLst/>
          </a:prstGeom>
        </p:spPr>
      </p:pic>
      <p:sp>
        <p:nvSpPr>
          <p:cNvPr id="15" name="close text 2"/>
          <p:cNvSpPr txBox="1"/>
          <p:nvPr/>
        </p:nvSpPr>
        <p:spPr>
          <a:xfrm>
            <a:off x="1463040" y="32004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One plan amendment, and why</a:t>
            </a:r>
            <a:endParaRPr lang="en-US" sz="1500" dirty="0"/>
          </a:p>
        </p:txBody>
      </p:sp>
      <p:sp>
        <p:nvSpPr>
          <p:cNvPr id="16" name="close card 3"/>
          <p:cNvSpPr/>
          <p:nvPr/>
        </p:nvSpPr>
        <p:spPr>
          <a:xfrm>
            <a:off x="4663440" y="301752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2E3466"/>
          </a:solidFill>
          <a:ln w="12700">
            <a:solidFill>
              <a:srgbClr val="2E3466"/>
            </a:solidFill>
            <a:prstDash val="solid"/>
          </a:ln>
        </p:spPr>
      </p:sp>
      <p:sp>
        <p:nvSpPr>
          <p:cNvPr id="17" name="close3 circle"/>
          <p:cNvSpPr/>
          <p:nvPr/>
        </p:nvSpPr>
        <p:spPr>
          <a:xfrm>
            <a:off x="4846320" y="3273552"/>
            <a:ext cx="548640" cy="548640"/>
          </a:xfrm>
          <a:prstGeom prst="ellipse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pic>
        <p:nvPicPr>
          <p:cNvPr id="18" name="close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966" y="3416198"/>
            <a:ext cx="263347" cy="263347"/>
          </a:xfrm>
          <a:prstGeom prst="rect">
            <a:avLst/>
          </a:prstGeom>
        </p:spPr>
      </p:pic>
      <p:sp>
        <p:nvSpPr>
          <p:cNvPr id="19" name="close text 3"/>
          <p:cNvSpPr txBox="1"/>
          <p:nvPr/>
        </p:nvSpPr>
        <p:spPr>
          <a:xfrm>
            <a:off x="5577840" y="32004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Where the loop stopped</a:t>
            </a:r>
            <a:endParaRPr lang="en-US" sz="1500" dirty="0"/>
          </a:p>
        </p:txBody>
      </p:sp>
      <p:pic>
        <p:nvPicPr>
          <p:cNvPr id="20" name="mascot guid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4114800"/>
            <a:ext cx="914400" cy="914400"/>
          </a:xfrm>
          <a:prstGeom prst="rect">
            <a:avLst/>
          </a:prstGeom>
        </p:spPr>
      </p:pic>
      <p:sp>
        <p:nvSpPr>
          <p:cNvPr id="21" name="close tagline"/>
          <p:cNvSpPr txBox="1"/>
          <p:nvPr/>
        </p:nvSpPr>
        <p:spPr>
          <a:xfrm>
            <a:off x="548640" y="4297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Gaps, not compliments.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an Watch">
  <a:themeElements>
    <a:clrScheme name="Titan Watch">
      <a:dk1>
        <a:srgbClr val="1B1F3B"/>
      </a:dk1>
      <a:lt1>
        <a:srgbClr val="FFFFFF"/>
      </a:lt1>
      <a:dk2>
        <a:srgbClr val="2E3466"/>
      </a:dk2>
      <a:lt2>
        <a:srgbClr val="F3F3F7"/>
      </a:lt2>
      <a:accent1>
        <a:srgbClr val="C58A00"/>
      </a:accent1>
      <a:accent2>
        <a:srgbClr val="3B3F8C"/>
      </a:accent2>
      <a:accent3>
        <a:srgbClr val="D64545"/>
      </a:accent3>
      <a:accent4>
        <a:srgbClr val="2A9D8F"/>
      </a:accent4>
      <a:accent5>
        <a:srgbClr val="6B7280"/>
      </a:accent5>
      <a:accent6>
        <a:srgbClr val="E7E8EF"/>
      </a:accent6>
      <a:hlink>
        <a:srgbClr val="3B3F8C"/>
      </a:hlink>
      <a:folHlink>
        <a:srgbClr val="6B7280"/>
      </a:folHlink>
    </a:clrScheme>
    <a:fontScheme name="Titan Wat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Kaiju Lab, compressed</dc:title>
  <dc:subject>PptxGenJS Presentation</dc:subject>
  <dc:creator>Capgemini FDE HVE training</dc:creator>
  <cp:lastModifiedBy>Capgemini FDE HVE training</cp:lastModifiedBy>
  <cp:revision>1</cp:revision>
  <dcterms:created xsi:type="dcterms:W3CDTF">2026-10-08T17:54:21Z</dcterms:created>
  <dcterms:modified xsi:type="dcterms:W3CDTF">2026-10-08T17:54:21Z</dcterms:modified>
</cp:coreProperties>
</file>